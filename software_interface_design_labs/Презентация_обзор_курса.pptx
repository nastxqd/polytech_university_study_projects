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Презентация знакомит с содержанием курса «Проектирование интеграционных решений» и показывает, какие вопросы проходят от анализа систем до эксплуатации обмена.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Курс рассматривает интеграцию как полный жизненный цикл. Важно не только соединить системы, но и обеспечить корректность, устойчивость и контролируемость обмена.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Темы расположены последовательно: сначала определяется задача интеграции, затем выбираются архитектура и технологии, после чего рассматриваются данные, безопасность, тестирование и эксплуатация.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На первом этапе важно определить участников взаимодействия и понять, какую проблему должен решить обмен. Это позволяет перейти от описания разрозненных систем к общей модели процесса.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Курс показывает несколько архитектурных вариантов. Универсального способа нет: решение выбирается под конкретный сценарий и ограничения организации.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Интерфейс описывает, как система обращается к другой системе. Формат и протокол определяют, как именно данные передаются и интерпретируются.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Синхронизация отвечает за актуальность и согласованность информации. Особое внимание уделяется повторной обработке и конфликтам между системами.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Надёжность проверяется на проблемных сценариях. Архитектура должна объяснять, что происходит с сообщением и бизнес-операцией при каждом типовом отказе.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Безопасность должна быть частью проектирования, а не отдельной проверкой перед запуском. Важны права доступа, защита каналов, управление секретами и аудит действий.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Интеграционное решение должно сохранять приемлемое время ответа при росте нагрузки. Поэтому производительность учитывается ещё на этапе архитектуры.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Финальная часть курса связывает проектирование с практикой: решение проверяется, запускается поэтапно, контролируется и развивается в процессе эксплуатации.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Спасибо за внимание. Готова ответить на вопросы по содержанию курса.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>
            <a:extLst>
              <a:ext uri="{FF2B5EF4-FFF2-40B4-BE49-F238E27FC236}">
                <a16:creationId xmlns:a16="http://schemas.microsoft.com/office/drawing/2014/main" id="{BAA619EA-53ED-43E2-854E-30EE61516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>
            <a:extLst>
              <a:ext uri="{FF2B5EF4-FFF2-40B4-BE49-F238E27FC236}">
                <a16:creationId xmlns:a16="http://schemas.microsoft.com/office/drawing/2014/main" id="{6E1325F1-00C3-4350-9B6A-BCF5DDC69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2" name="Google Shape;22;p14">
            <a:extLst>
              <a:ext uri="{FF2B5EF4-FFF2-40B4-BE49-F238E27FC236}">
                <a16:creationId xmlns:a16="http://schemas.microsoft.com/office/drawing/2014/main" id="{AA27170F-A079-4F7A-AC4C-5F7CED734A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530" y="-100001"/>
            <a:ext cx="3006013" cy="2125974"/>
          </a:xfrm>
          <a:prstGeom prst="rect">
            <a:avLst/>
          </a:prstGeom>
          <a:ln>
            <a:noFill/>
          </a:ln>
        </p:spPr>
      </p:pic>
      <p:pic>
        <p:nvPicPr>
          <p:cNvPr id="23" name="Google Shape;23;p14">
            <a:extLst>
              <a:ext uri="{FF2B5EF4-FFF2-40B4-BE49-F238E27FC236}">
                <a16:creationId xmlns:a16="http://schemas.microsoft.com/office/drawing/2014/main" id="{5C2EBD4B-52F1-4F2A-AD68-FE78671D38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78" y="5438319"/>
            <a:ext cx="2860213" cy="1608870"/>
          </a:xfrm>
          <a:prstGeom prst="rect">
            <a:avLst/>
          </a:prstGeom>
          <a:ln>
            <a:noFill/>
          </a:ln>
        </p:spPr>
      </p:pic>
      <p:cxnSp>
        <p:nvCxnSpPr>
          <p:cNvPr id="24" name="Google Shape;24;p14">
            <a:extLst>
              <a:ext uri="{FF2B5EF4-FFF2-40B4-BE49-F238E27FC236}">
                <a16:creationId xmlns:a16="http://schemas.microsoft.com/office/drawing/2014/main" id="{701B05B0-6E99-40D6-B31F-C3FB9E5921C6}"/>
              </a:ext>
            </a:extLst>
          </p:cNvPr>
          <p:cNvCxnSpPr/>
          <p:nvPr/>
        </p:nvCxnSpPr>
        <p:spPr>
          <a:xfrm>
            <a:off x="4555671" y="1224644"/>
            <a:ext cx="7740000" cy="0"/>
          </a:xfrm>
          <a:prstGeom prst="straightConnector1">
            <a:avLst/>
          </a:prstGeom>
          <a:ln w="57150" cap="rnd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" name="Google Shape;25;p14">
            <a:extLst>
              <a:ext uri="{FF2B5EF4-FFF2-40B4-BE49-F238E27FC236}">
                <a16:creationId xmlns:a16="http://schemas.microsoft.com/office/drawing/2014/main" id="{2C6747F0-DC63-4C6E-9E4E-8887117A8BC1}"/>
              </a:ext>
            </a:extLst>
          </p:cNvPr>
          <p:cNvCxnSpPr/>
          <p:nvPr/>
        </p:nvCxnSpPr>
        <p:spPr>
          <a:xfrm>
            <a:off x="-114300" y="6237515"/>
            <a:ext cx="9720000" cy="0"/>
          </a:xfrm>
          <a:prstGeom prst="straightConnector1">
            <a:avLst/>
          </a:prstGeom>
          <a:ln w="57150" cap="rnd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6" name="Google Shape;26;p14">
            <a:extLst>
              <a:ext uri="{FF2B5EF4-FFF2-40B4-BE49-F238E27FC236}">
                <a16:creationId xmlns:a16="http://schemas.microsoft.com/office/drawing/2014/main" id="{9DFFE2B8-1E6E-4669-8028-DB88F4AF71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530" y="-100001"/>
            <a:ext cx="3006013" cy="2125974"/>
          </a:xfrm>
          <a:prstGeom prst="rect">
            <a:avLst/>
          </a:prstGeom>
          <a:ln>
            <a:noFill/>
          </a:ln>
        </p:spPr>
      </p:pic>
      <p:cxnSp>
        <p:nvCxnSpPr>
          <p:cNvPr id="27" name="Google Shape;27;p14">
            <a:extLst>
              <a:ext uri="{FF2B5EF4-FFF2-40B4-BE49-F238E27FC236}">
                <a16:creationId xmlns:a16="http://schemas.microsoft.com/office/drawing/2014/main" id="{EE893495-ED88-4FEA-86D3-2F1392CB3577}"/>
              </a:ext>
            </a:extLst>
          </p:cNvPr>
          <p:cNvCxnSpPr/>
          <p:nvPr/>
        </p:nvCxnSpPr>
        <p:spPr>
          <a:xfrm>
            <a:off x="4555671" y="1224644"/>
            <a:ext cx="7740000" cy="0"/>
          </a:xfrm>
          <a:prstGeom prst="straightConnector1">
            <a:avLst/>
          </a:prstGeom>
          <a:ln w="57150" cap="rnd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>
            <a:extLst>
              <a:ext uri="{FF2B5EF4-FFF2-40B4-BE49-F238E27FC236}">
                <a16:creationId xmlns:a16="http://schemas.microsoft.com/office/drawing/2014/main" id="{58E65C1F-3959-4FF6-A54F-0E935926F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59430"/>
            <a:ext cx="10281557" cy="3649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5">
            <a:extLst>
              <a:ext uri="{FF2B5EF4-FFF2-40B4-BE49-F238E27FC236}">
                <a16:creationId xmlns:a16="http://schemas.microsoft.com/office/drawing/2014/main" id="{E0B1C26D-82F0-43E9-A151-A26B9D47AC4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>
            <a:extLst>
              <a:ext uri="{FF2B5EF4-FFF2-40B4-BE49-F238E27FC236}">
                <a16:creationId xmlns:a16="http://schemas.microsoft.com/office/drawing/2014/main" id="{1F9D7E99-8DEA-433B-B4BC-7F6DAA582E3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80171" y="5698671"/>
            <a:ext cx="1787979" cy="1047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l">
              <a:spcBef>
                <a:spcPts val="0"/>
              </a:spcBef>
              <a:buNone/>
              <a:defRPr/>
            </a:lvl1pPr>
            <a:lvl2pPr marL="0" indent="0" algn="l">
              <a:spcBef>
                <a:spcPts val="0"/>
              </a:spcBef>
              <a:buNone/>
              <a:defRPr/>
            </a:lvl2pPr>
            <a:lvl3pPr marL="0" indent="0" algn="l">
              <a:spcBef>
                <a:spcPts val="0"/>
              </a:spcBef>
              <a:buNone/>
              <a:defRPr/>
            </a:lvl3pPr>
            <a:lvl4pPr marL="0" indent="0" algn="l">
              <a:spcBef>
                <a:spcPts val="0"/>
              </a:spcBef>
              <a:buNone/>
              <a:defRPr/>
            </a:lvl4pPr>
            <a:lvl5pPr marL="0" indent="0" algn="l">
              <a:spcBef>
                <a:spcPts val="0"/>
              </a:spcBef>
              <a:buNone/>
              <a:defRPr/>
            </a:lvl5pPr>
            <a:lvl6pPr marL="0" indent="0" algn="l">
              <a:spcBef>
                <a:spcPts val="0"/>
              </a:spcBef>
              <a:buNone/>
              <a:defRPr/>
            </a:lvl6pPr>
            <a:lvl7pPr marL="0" indent="0" algn="l">
              <a:spcBef>
                <a:spcPts val="0"/>
              </a:spcBef>
              <a:buNone/>
              <a:defRPr/>
            </a:lvl7pPr>
            <a:lvl8pPr marL="0" indent="0" algn="l">
              <a:spcBef>
                <a:spcPts val="0"/>
              </a:spcBef>
              <a:buNone/>
              <a:defRPr/>
            </a:lvl8pPr>
            <a:lvl9pPr marL="0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2" name="Google Shape;32;p15">
            <a:extLst>
              <a:ext uri="{FF2B5EF4-FFF2-40B4-BE49-F238E27FC236}">
                <a16:creationId xmlns:a16="http://schemas.microsoft.com/office/drawing/2014/main" id="{BD5AAE9D-6736-45BD-BAFD-769F975CE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>
            <a:extLst>
              <a:ext uri="{FF2B5EF4-FFF2-40B4-BE49-F238E27FC236}">
                <a16:creationId xmlns:a16="http://schemas.microsoft.com/office/drawing/2014/main" id="{E2CA9F7E-BF19-4029-AE1A-D7141B70E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>
            <a:extLst>
              <a:ext uri="{FF2B5EF4-FFF2-40B4-BE49-F238E27FC236}">
                <a16:creationId xmlns:a16="http://schemas.microsoft.com/office/drawing/2014/main" id="{6640BE48-D7F2-4109-B883-05D37B612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>
            <a:extLst>
              <a:ext uri="{FF2B5EF4-FFF2-40B4-BE49-F238E27FC236}">
                <a16:creationId xmlns:a16="http://schemas.microsoft.com/office/drawing/2014/main" id="{28E60300-F2B3-4BA6-A3BA-B5CC5722193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993084" y="5390016"/>
            <a:ext cx="1828800" cy="1331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l">
              <a:spcBef>
                <a:spcPts val="0"/>
              </a:spcBef>
              <a:buNone/>
              <a:defRPr/>
            </a:lvl1pPr>
            <a:lvl2pPr marL="0" indent="0" algn="l">
              <a:spcBef>
                <a:spcPts val="0"/>
              </a:spcBef>
              <a:buNone/>
              <a:defRPr/>
            </a:lvl2pPr>
            <a:lvl3pPr marL="0" indent="0" algn="l">
              <a:spcBef>
                <a:spcPts val="0"/>
              </a:spcBef>
              <a:buNone/>
              <a:defRPr/>
            </a:lvl3pPr>
            <a:lvl4pPr marL="0" indent="0" algn="l">
              <a:spcBef>
                <a:spcPts val="0"/>
              </a:spcBef>
              <a:buNone/>
              <a:defRPr/>
            </a:lvl4pPr>
            <a:lvl5pPr marL="0" indent="0" algn="l">
              <a:spcBef>
                <a:spcPts val="0"/>
              </a:spcBef>
              <a:buNone/>
              <a:defRPr/>
            </a:lvl5pPr>
            <a:lvl6pPr marL="0" indent="0" algn="l">
              <a:spcBef>
                <a:spcPts val="0"/>
              </a:spcBef>
              <a:buNone/>
              <a:defRPr/>
            </a:lvl6pPr>
            <a:lvl7pPr marL="0" indent="0" algn="l">
              <a:spcBef>
                <a:spcPts val="0"/>
              </a:spcBef>
              <a:buNone/>
              <a:defRPr/>
            </a:lvl7pPr>
            <a:lvl8pPr marL="0" indent="0" algn="l">
              <a:spcBef>
                <a:spcPts val="0"/>
              </a:spcBef>
              <a:buNone/>
              <a:defRPr/>
            </a:lvl8pPr>
            <a:lvl9pPr marL="0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8" name="Google Shape;38;p17">
            <a:extLst>
              <a:ext uri="{FF2B5EF4-FFF2-40B4-BE49-F238E27FC236}">
                <a16:creationId xmlns:a16="http://schemas.microsoft.com/office/drawing/2014/main" id="{FF7829F5-B844-4FE6-863A-D97842F8B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>
            <a:extLst>
              <a:ext uri="{FF2B5EF4-FFF2-40B4-BE49-F238E27FC236}">
                <a16:creationId xmlns:a16="http://schemas.microsoft.com/office/drawing/2014/main" id="{FB4030D5-A46D-4720-8548-0D64D381E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5252357" cy="4109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7">
            <a:extLst>
              <a:ext uri="{FF2B5EF4-FFF2-40B4-BE49-F238E27FC236}">
                <a16:creationId xmlns:a16="http://schemas.microsoft.com/office/drawing/2014/main" id="{4057835F-0786-4FDA-AB50-F24CF892866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3543300" cy="4109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7">
            <a:extLst>
              <a:ext uri="{FF2B5EF4-FFF2-40B4-BE49-F238E27FC236}">
                <a16:creationId xmlns:a16="http://schemas.microsoft.com/office/drawing/2014/main" id="{AD51D267-ECF7-4679-BAEB-3D1B63A2915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>
            <a:extLst>
              <a:ext uri="{FF2B5EF4-FFF2-40B4-BE49-F238E27FC236}">
                <a16:creationId xmlns:a16="http://schemas.microsoft.com/office/drawing/2014/main" id="{92D15A85-D34B-41CA-B02A-4CAB34ED0B9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l">
              <a:spcBef>
                <a:spcPts val="0"/>
              </a:spcBef>
              <a:buNone/>
              <a:defRPr/>
            </a:lvl1pPr>
            <a:lvl2pPr marL="0" indent="0" algn="l">
              <a:spcBef>
                <a:spcPts val="0"/>
              </a:spcBef>
              <a:buNone/>
              <a:defRPr/>
            </a:lvl2pPr>
            <a:lvl3pPr marL="0" indent="0" algn="l">
              <a:spcBef>
                <a:spcPts val="0"/>
              </a:spcBef>
              <a:buNone/>
              <a:defRPr/>
            </a:lvl3pPr>
            <a:lvl4pPr marL="0" indent="0" algn="l">
              <a:spcBef>
                <a:spcPts val="0"/>
              </a:spcBef>
              <a:buNone/>
              <a:defRPr/>
            </a:lvl4pPr>
            <a:lvl5pPr marL="0" indent="0" algn="l">
              <a:spcBef>
                <a:spcPts val="0"/>
              </a:spcBef>
              <a:buNone/>
              <a:defRPr/>
            </a:lvl5pPr>
            <a:lvl6pPr marL="0" indent="0" algn="l">
              <a:spcBef>
                <a:spcPts val="0"/>
              </a:spcBef>
              <a:buNone/>
              <a:defRPr/>
            </a:lvl6pPr>
            <a:lvl7pPr marL="0" indent="0" algn="l">
              <a:spcBef>
                <a:spcPts val="0"/>
              </a:spcBef>
              <a:buNone/>
              <a:defRPr/>
            </a:lvl7pPr>
            <a:lvl8pPr marL="0" indent="0" algn="l">
              <a:spcBef>
                <a:spcPts val="0"/>
              </a:spcBef>
              <a:buNone/>
              <a:defRPr/>
            </a:lvl8pPr>
            <a:lvl9pPr marL="0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4" name="Google Shape;44;p18">
            <a:extLst>
              <a:ext uri="{FF2B5EF4-FFF2-40B4-BE49-F238E27FC236}">
                <a16:creationId xmlns:a16="http://schemas.microsoft.com/office/drawing/2014/main" id="{CF70DF02-8DD1-4FBE-BF7D-43E956920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8">
            <a:extLst>
              <a:ext uri="{FF2B5EF4-FFF2-40B4-BE49-F238E27FC236}">
                <a16:creationId xmlns:a16="http://schemas.microsoft.com/office/drawing/2014/main" id="{9A614969-782B-4358-B1A6-12CE909ADCC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702379"/>
            <a:ext cx="4205741" cy="321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8">
            <a:extLst>
              <a:ext uri="{FF2B5EF4-FFF2-40B4-BE49-F238E27FC236}">
                <a16:creationId xmlns:a16="http://schemas.microsoft.com/office/drawing/2014/main" id="{0C3CC1F0-4BBC-4D71-9D5A-A969578BC50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372100" y="1992085"/>
            <a:ext cx="4327071" cy="51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8">
            <a:extLst>
              <a:ext uri="{FF2B5EF4-FFF2-40B4-BE49-F238E27FC236}">
                <a16:creationId xmlns:a16="http://schemas.microsoft.com/office/drawing/2014/main" id="{79E66889-3822-49B2-8D47-7CDA4FD58EE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5372100" y="2702379"/>
            <a:ext cx="4327071" cy="321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8">
            <a:extLst>
              <a:ext uri="{FF2B5EF4-FFF2-40B4-BE49-F238E27FC236}">
                <a16:creationId xmlns:a16="http://schemas.microsoft.com/office/drawing/2014/main" id="{3572B92A-B3FA-45BF-B99B-3554D329CEA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>
            <a:extLst>
              <a:ext uri="{FF2B5EF4-FFF2-40B4-BE49-F238E27FC236}">
                <a16:creationId xmlns:a16="http://schemas.microsoft.com/office/drawing/2014/main" id="{34F3E201-2988-40E1-A66D-C7A468BC8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>
            <a:extLst>
              <a:ext uri="{FF2B5EF4-FFF2-40B4-BE49-F238E27FC236}">
                <a16:creationId xmlns:a16="http://schemas.microsoft.com/office/drawing/2014/main" id="{871ADA72-130B-4A23-908E-5D42341D5F1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l">
              <a:spcBef>
                <a:spcPts val="0"/>
              </a:spcBef>
              <a:buNone/>
              <a:defRPr/>
            </a:lvl1pPr>
            <a:lvl2pPr marL="0" indent="0" algn="l">
              <a:spcBef>
                <a:spcPts val="0"/>
              </a:spcBef>
              <a:buNone/>
              <a:defRPr/>
            </a:lvl2pPr>
            <a:lvl3pPr marL="0" indent="0" algn="l">
              <a:spcBef>
                <a:spcPts val="0"/>
              </a:spcBef>
              <a:buNone/>
              <a:defRPr/>
            </a:lvl3pPr>
            <a:lvl4pPr marL="0" indent="0" algn="l">
              <a:spcBef>
                <a:spcPts val="0"/>
              </a:spcBef>
              <a:buNone/>
              <a:defRPr/>
            </a:lvl4pPr>
            <a:lvl5pPr marL="0" indent="0" algn="l">
              <a:spcBef>
                <a:spcPts val="0"/>
              </a:spcBef>
              <a:buNone/>
              <a:defRPr/>
            </a:lvl5pPr>
            <a:lvl6pPr marL="0" indent="0" algn="l">
              <a:spcBef>
                <a:spcPts val="0"/>
              </a:spcBef>
              <a:buNone/>
              <a:defRPr/>
            </a:lvl6pPr>
            <a:lvl7pPr marL="0" indent="0" algn="l">
              <a:spcBef>
                <a:spcPts val="0"/>
              </a:spcBef>
              <a:buNone/>
              <a:defRPr/>
            </a:lvl7pPr>
            <a:lvl8pPr marL="0" indent="0" algn="l">
              <a:spcBef>
                <a:spcPts val="0"/>
              </a:spcBef>
              <a:buNone/>
              <a:defRPr/>
            </a:lvl8pPr>
            <a:lvl9pPr marL="0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52" name="Google Shape;52;p19">
            <a:extLst>
              <a:ext uri="{FF2B5EF4-FFF2-40B4-BE49-F238E27FC236}">
                <a16:creationId xmlns:a16="http://schemas.microsoft.com/office/drawing/2014/main" id="{9BE976B5-8971-468F-91FB-551011D76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>
            <a:extLst>
              <a:ext uri="{FF2B5EF4-FFF2-40B4-BE49-F238E27FC236}">
                <a16:creationId xmlns:a16="http://schemas.microsoft.com/office/drawing/2014/main" id="{1B9F64B1-B682-406D-90AF-27FC701A620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>
            <a:extLst>
              <a:ext uri="{FF2B5EF4-FFF2-40B4-BE49-F238E27FC236}">
                <a16:creationId xmlns:a16="http://schemas.microsoft.com/office/drawing/2014/main" id="{27C5AE8E-49C6-46AA-951A-8D28919255E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>
            <a:extLst>
              <a:ext uri="{FF2B5EF4-FFF2-40B4-BE49-F238E27FC236}">
                <a16:creationId xmlns:a16="http://schemas.microsoft.com/office/drawing/2014/main" id="{DB6438CC-4C8C-4940-BC0F-51E9B0B3180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l">
              <a:spcBef>
                <a:spcPts val="0"/>
              </a:spcBef>
              <a:buNone/>
              <a:defRPr/>
            </a:lvl1pPr>
            <a:lvl2pPr marL="0" indent="0" algn="l">
              <a:spcBef>
                <a:spcPts val="0"/>
              </a:spcBef>
              <a:buNone/>
              <a:defRPr/>
            </a:lvl2pPr>
            <a:lvl3pPr marL="0" indent="0" algn="l">
              <a:spcBef>
                <a:spcPts val="0"/>
              </a:spcBef>
              <a:buNone/>
              <a:defRPr/>
            </a:lvl3pPr>
            <a:lvl4pPr marL="0" indent="0" algn="l">
              <a:spcBef>
                <a:spcPts val="0"/>
              </a:spcBef>
              <a:buNone/>
              <a:defRPr/>
            </a:lvl4pPr>
            <a:lvl5pPr marL="0" indent="0" algn="l">
              <a:spcBef>
                <a:spcPts val="0"/>
              </a:spcBef>
              <a:buNone/>
              <a:defRPr/>
            </a:lvl5pPr>
            <a:lvl6pPr marL="0" indent="0" algn="l">
              <a:spcBef>
                <a:spcPts val="0"/>
              </a:spcBef>
              <a:buNone/>
              <a:defRPr/>
            </a:lvl6pPr>
            <a:lvl7pPr marL="0" indent="0" algn="l">
              <a:spcBef>
                <a:spcPts val="0"/>
              </a:spcBef>
              <a:buNone/>
              <a:defRPr/>
            </a:lvl7pPr>
            <a:lvl8pPr marL="0" indent="0" algn="l">
              <a:spcBef>
                <a:spcPts val="0"/>
              </a:spcBef>
              <a:buNone/>
              <a:defRPr/>
            </a:lvl8pPr>
            <a:lvl9pPr marL="0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>
            <a:extLst>
              <a:ext uri="{FF2B5EF4-FFF2-40B4-BE49-F238E27FC236}">
                <a16:creationId xmlns:a16="http://schemas.microsoft.com/office/drawing/2014/main" id="{14DD8766-7194-41C7-8F21-4C1EA728BA6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l">
              <a:spcBef>
                <a:spcPts val="0"/>
              </a:spcBef>
              <a:buNone/>
              <a:defRPr/>
            </a:lvl1pPr>
            <a:lvl2pPr marL="0" indent="0" algn="l">
              <a:spcBef>
                <a:spcPts val="0"/>
              </a:spcBef>
              <a:buNone/>
              <a:defRPr/>
            </a:lvl2pPr>
            <a:lvl3pPr marL="0" indent="0" algn="l">
              <a:spcBef>
                <a:spcPts val="0"/>
              </a:spcBef>
              <a:buNone/>
              <a:defRPr/>
            </a:lvl3pPr>
            <a:lvl4pPr marL="0" indent="0" algn="l">
              <a:spcBef>
                <a:spcPts val="0"/>
              </a:spcBef>
              <a:buNone/>
              <a:defRPr/>
            </a:lvl4pPr>
            <a:lvl5pPr marL="0" indent="0" algn="l">
              <a:spcBef>
                <a:spcPts val="0"/>
              </a:spcBef>
              <a:buNone/>
              <a:defRPr/>
            </a:lvl5pPr>
            <a:lvl6pPr marL="0" indent="0" algn="l">
              <a:spcBef>
                <a:spcPts val="0"/>
              </a:spcBef>
              <a:buNone/>
              <a:defRPr/>
            </a:lvl6pPr>
            <a:lvl7pPr marL="0" indent="0" algn="l">
              <a:spcBef>
                <a:spcPts val="0"/>
              </a:spcBef>
              <a:buNone/>
              <a:defRPr/>
            </a:lvl7pPr>
            <a:lvl8pPr marL="0" indent="0" algn="l">
              <a:spcBef>
                <a:spcPts val="0"/>
              </a:spcBef>
              <a:buNone/>
              <a:defRPr/>
            </a:lvl8pPr>
            <a:lvl9pPr marL="0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59" name="Google Shape;59;p21">
            <a:extLst>
              <a:ext uri="{FF2B5EF4-FFF2-40B4-BE49-F238E27FC236}">
                <a16:creationId xmlns:a16="http://schemas.microsoft.com/office/drawing/2014/main" id="{7B0B592E-89C7-4C1E-BF2F-2965F227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>
            <a:extLst>
              <a:ext uri="{FF2B5EF4-FFF2-40B4-BE49-F238E27FC236}">
                <a16:creationId xmlns:a16="http://schemas.microsoft.com/office/drawing/2014/main" id="{0E40E187-ADED-4CD0-9690-13A07FDDC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6859" y="1281339"/>
            <a:ext cx="4898069" cy="4587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1">
            <a:extLst>
              <a:ext uri="{FF2B5EF4-FFF2-40B4-BE49-F238E27FC236}">
                <a16:creationId xmlns:a16="http://schemas.microsoft.com/office/drawing/2014/main" id="{A23DEF7B-147C-495F-B01E-F8BFABE1472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1">
            <a:extLst>
              <a:ext uri="{FF2B5EF4-FFF2-40B4-BE49-F238E27FC236}">
                <a16:creationId xmlns:a16="http://schemas.microsoft.com/office/drawing/2014/main" id="{0DA4E7CE-0D58-4E70-B32D-10F64DC08DE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2">
            <a:extLst>
              <a:ext uri="{FF2B5EF4-FFF2-40B4-BE49-F238E27FC236}">
                <a16:creationId xmlns:a16="http://schemas.microsoft.com/office/drawing/2014/main" id="{039DFD4D-5331-490F-9D62-3661DFF00CA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l">
              <a:spcBef>
                <a:spcPts val="0"/>
              </a:spcBef>
              <a:buNone/>
              <a:defRPr/>
            </a:lvl1pPr>
            <a:lvl2pPr marL="0" indent="0" algn="l">
              <a:spcBef>
                <a:spcPts val="0"/>
              </a:spcBef>
              <a:buNone/>
              <a:defRPr/>
            </a:lvl2pPr>
            <a:lvl3pPr marL="0" indent="0" algn="l">
              <a:spcBef>
                <a:spcPts val="0"/>
              </a:spcBef>
              <a:buNone/>
              <a:defRPr/>
            </a:lvl3pPr>
            <a:lvl4pPr marL="0" indent="0" algn="l">
              <a:spcBef>
                <a:spcPts val="0"/>
              </a:spcBef>
              <a:buNone/>
              <a:defRPr/>
            </a:lvl4pPr>
            <a:lvl5pPr marL="0" indent="0" algn="l">
              <a:spcBef>
                <a:spcPts val="0"/>
              </a:spcBef>
              <a:buNone/>
              <a:defRPr/>
            </a:lvl5pPr>
            <a:lvl6pPr marL="0" indent="0" algn="l">
              <a:spcBef>
                <a:spcPts val="0"/>
              </a:spcBef>
              <a:buNone/>
              <a:defRPr/>
            </a:lvl6pPr>
            <a:lvl7pPr marL="0" indent="0" algn="l">
              <a:spcBef>
                <a:spcPts val="0"/>
              </a:spcBef>
              <a:buNone/>
              <a:defRPr/>
            </a:lvl7pPr>
            <a:lvl8pPr marL="0" indent="0" algn="l">
              <a:spcBef>
                <a:spcPts val="0"/>
              </a:spcBef>
              <a:buNone/>
              <a:defRPr/>
            </a:lvl8pPr>
            <a:lvl9pPr marL="0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65" name="Google Shape;65;p22">
            <a:extLst>
              <a:ext uri="{FF2B5EF4-FFF2-40B4-BE49-F238E27FC236}">
                <a16:creationId xmlns:a16="http://schemas.microsoft.com/office/drawing/2014/main" id="{C2032CE4-0C8E-4DB7-B4B7-2922FCAEE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>
            <a:extLst>
              <a:ext uri="{FF2B5EF4-FFF2-40B4-BE49-F238E27FC236}">
                <a16:creationId xmlns:a16="http://schemas.microsoft.com/office/drawing/2014/main" id="{FBAF6B37-0101-4EB3-9FE8-34C4A9484AC5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183188" y="1273629"/>
            <a:ext cx="5823902" cy="4112089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22">
            <a:extLst>
              <a:ext uri="{FF2B5EF4-FFF2-40B4-BE49-F238E27FC236}">
                <a16:creationId xmlns:a16="http://schemas.microsoft.com/office/drawing/2014/main" id="{7E3E6766-8E76-4CA9-98AD-044F68256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57400"/>
            <a:ext cx="3932237" cy="3328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22">
            <a:extLst>
              <a:ext uri="{FF2B5EF4-FFF2-40B4-BE49-F238E27FC236}">
                <a16:creationId xmlns:a16="http://schemas.microsoft.com/office/drawing/2014/main" id="{AEB28B4E-98C8-45C6-98F6-E62D8888C25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>
            <a:extLst>
              <a:ext uri="{FF2B5EF4-FFF2-40B4-BE49-F238E27FC236}">
                <a16:creationId xmlns:a16="http://schemas.microsoft.com/office/drawing/2014/main" id="{65DD6E0A-DCD6-459F-ADB8-F0A22F5ABD4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l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" name="Google Shape;11;p13">
            <a:extLst>
              <a:ext uri="{FF2B5EF4-FFF2-40B4-BE49-F238E27FC236}">
                <a16:creationId xmlns:a16="http://schemas.microsoft.com/office/drawing/2014/main" id="{953E044D-C735-4B62-9C8E-2DF473FDA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9pPr>
          </a:lstStyle>
          <a:p>
            <a:endParaRPr/>
          </a:p>
        </p:txBody>
      </p:sp>
      <p:sp>
        <p:nvSpPr>
          <p:cNvPr id="12" name="Google Shape;12;p13">
            <a:extLst>
              <a:ext uri="{FF2B5EF4-FFF2-40B4-BE49-F238E27FC236}">
                <a16:creationId xmlns:a16="http://schemas.microsoft.com/office/drawing/2014/main" id="{C8E17B15-EA39-4A97-90C9-91CD7076F2D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9pPr>
          </a:lstStyle>
          <a:p>
            <a:endParaRPr/>
          </a:p>
        </p:txBody>
      </p:sp>
      <p:pic>
        <p:nvPicPr>
          <p:cNvPr id="13" name="Google Shape;13;p13">
            <a:extLst>
              <a:ext uri="{FF2B5EF4-FFF2-40B4-BE49-F238E27FC236}">
                <a16:creationId xmlns:a16="http://schemas.microsoft.com/office/drawing/2014/main" id="{9D8E9CDB-14EA-406F-BE7B-3C810640455A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25768" y="200819"/>
            <a:ext cx="1489158" cy="1053193"/>
          </a:xfrm>
          <a:prstGeom prst="rect">
            <a:avLst/>
          </a:prstGeom>
          <a:ln>
            <a:noFill/>
          </a:ln>
        </p:spPr>
      </p:pic>
      <p:sp>
        <p:nvSpPr>
          <p:cNvPr id="14" name="Google Shape;14;p13">
            <a:extLst>
              <a:ext uri="{FF2B5EF4-FFF2-40B4-BE49-F238E27FC236}">
                <a16:creationId xmlns:a16="http://schemas.microsoft.com/office/drawing/2014/main" id="{4633CEDA-CADE-4893-9120-7CEAB94A8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5" name="Google Shape;15;p13">
            <a:extLst>
              <a:ext uri="{FF2B5EF4-FFF2-40B4-BE49-F238E27FC236}">
                <a16:creationId xmlns:a16="http://schemas.microsoft.com/office/drawing/2014/main" id="{4FDF2471-F35C-43A6-829B-7BDE5B520AF6}"/>
              </a:ext>
            </a:extLst>
          </p:cNvPr>
          <p:cNvCxnSpPr/>
          <p:nvPr/>
        </p:nvCxnSpPr>
        <p:spPr>
          <a:xfrm>
            <a:off x="-57750" y="6286500"/>
            <a:ext cx="9612000" cy="0"/>
          </a:xfrm>
          <a:prstGeom prst="straightConnector1">
            <a:avLst/>
          </a:prstGeom>
          <a:ln w="38100" cap="rnd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6;p13">
            <a:extLst>
              <a:ext uri="{FF2B5EF4-FFF2-40B4-BE49-F238E27FC236}">
                <a16:creationId xmlns:a16="http://schemas.microsoft.com/office/drawing/2014/main" id="{6A4608A1-7B7B-4F59-A050-FD65F8B6E4AE}"/>
              </a:ext>
            </a:extLst>
          </p:cNvPr>
          <p:cNvCxnSpPr/>
          <p:nvPr/>
        </p:nvCxnSpPr>
        <p:spPr>
          <a:xfrm>
            <a:off x="10260531" y="1094014"/>
            <a:ext cx="1980000" cy="0"/>
          </a:xfrm>
          <a:prstGeom prst="straightConnector1">
            <a:avLst/>
          </a:prstGeom>
          <a:ln w="38100" cap="rnd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7;p13">
            <a:extLst>
              <a:ext uri="{FF2B5EF4-FFF2-40B4-BE49-F238E27FC236}">
                <a16:creationId xmlns:a16="http://schemas.microsoft.com/office/drawing/2014/main" id="{4527FE93-5ADC-42CB-BC04-C61079937D59}"/>
              </a:ext>
            </a:extLst>
          </p:cNvPr>
          <p:cNvCxnSpPr/>
          <p:nvPr/>
        </p:nvCxnSpPr>
        <p:spPr>
          <a:xfrm>
            <a:off x="-57750" y="6286500"/>
            <a:ext cx="9612000" cy="0"/>
          </a:xfrm>
          <a:prstGeom prst="straightConnector1">
            <a:avLst/>
          </a:prstGeom>
          <a:ln w="38100" cap="rnd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13">
            <a:extLst>
              <a:ext uri="{FF2B5EF4-FFF2-40B4-BE49-F238E27FC236}">
                <a16:creationId xmlns:a16="http://schemas.microsoft.com/office/drawing/2014/main" id="{82279CFA-72CB-4293-8DC0-5AA7E7A879D7}"/>
              </a:ext>
            </a:extLst>
          </p:cNvPr>
          <p:cNvCxnSpPr/>
          <p:nvPr/>
        </p:nvCxnSpPr>
        <p:spPr>
          <a:xfrm>
            <a:off x="10260531" y="1094014"/>
            <a:ext cx="1980000" cy="0"/>
          </a:xfrm>
          <a:prstGeom prst="straightConnector1">
            <a:avLst/>
          </a:prstGeom>
          <a:ln w="38100" cap="rnd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Google Shape;74;p1">
            <a:extLst>
              <a:ext uri="{FF2B5EF4-FFF2-40B4-BE49-F238E27FC236}">
                <a16:creationId xmlns:a16="http://schemas.microsoft.com/office/drawing/2014/main" id="{C7E40066-09DA-44C2-957F-DE10F77D1D93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ln w="9525" cap="flat">
            <a:solidFill>
              <a:srgbClr val="FBFFFF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75" name="Google Shape;75;p1">
            <a:extLst>
              <a:ext uri="{FF2B5EF4-FFF2-40B4-BE49-F238E27FC236}">
                <a16:creationId xmlns:a16="http://schemas.microsoft.com/office/drawing/2014/main" id="{CDD227B7-1F7C-44E3-AB27-EE9D4DD5E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sz="4800"/>
              <a:t>Проектирование интеграционных решений</a:t>
            </a:r>
            <a:endParaRPr/>
          </a:p>
        </p:txBody>
      </p:sp>
      <p:sp>
        <p:nvSpPr>
          <p:cNvPr id="76" name="Google Shape;76;p1">
            <a:extLst>
              <a:ext uri="{FF2B5EF4-FFF2-40B4-BE49-F238E27FC236}">
                <a16:creationId xmlns:a16="http://schemas.microsoft.com/office/drawing/2014/main" id="{D8ADA289-88AC-4BC0-A099-39EC4BE5CD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dirty="0" err="1"/>
              <a:t>Обзор</a:t>
            </a:r>
            <a:r>
              <a:rPr dirty="0"/>
              <a:t> </a:t>
            </a:r>
            <a:r>
              <a:rPr dirty="0" err="1"/>
              <a:t>курса</a:t>
            </a:r>
            <a:endParaRPr dirty="0"/>
          </a:p>
          <a:p>
            <a:pPr marL="0" lvl="0" indent="0"/>
            <a:r>
              <a:rPr dirty="0" err="1"/>
              <a:t>Выполнила</a:t>
            </a:r>
            <a:r>
              <a:rPr dirty="0"/>
              <a:t>: </a:t>
            </a:r>
            <a:r>
              <a:rPr lang="ru-RU" dirty="0"/>
              <a:t>Андриянова А.А.</a:t>
            </a:r>
            <a:r>
              <a:rPr dirty="0" smtClean="0"/>
              <a:t>, </a:t>
            </a:r>
            <a:r>
              <a:rPr dirty="0" err="1"/>
              <a:t>группа</a:t>
            </a:r>
            <a:r>
              <a:rPr dirty="0"/>
              <a:t> 231-361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4315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2">
            <a:extLst>
              <a:ext uri="{FF2B5EF4-FFF2-40B4-BE49-F238E27FC236}">
                <a16:creationId xmlns:a16="http://schemas.microsoft.com/office/drawing/2014/main" id="{90E55F3B-8D62-4517-A450-36A274CB92ED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ln w="9525" cap="flat">
            <a:solidFill>
              <a:srgbClr val="FBFFFF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83" name="Google Shape;83;p2">
            <a:extLst>
              <a:ext uri="{FF2B5EF4-FFF2-40B4-BE49-F238E27FC236}">
                <a16:creationId xmlns:a16="http://schemas.microsoft.com/office/drawing/2014/main" id="{CBE969FB-80C6-47D3-A5E7-391E9C2BB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59430"/>
            <a:ext cx="10281557" cy="3601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sz="2400"/>
              <a:t>Сформировать целостное представление о проектировании интеграционных решений: от анализа информационных систем и выбора способа обмена до обеспечения надёжности, безопасности, производительности и сопровождения.</a:t>
            </a:r>
            <a:endParaRPr/>
          </a:p>
        </p:txBody>
      </p:sp>
      <p:sp>
        <p:nvSpPr>
          <p:cNvPr id="84" name="Google Shape;84;p2">
            <a:extLst>
              <a:ext uri="{FF2B5EF4-FFF2-40B4-BE49-F238E27FC236}">
                <a16:creationId xmlns:a16="http://schemas.microsoft.com/office/drawing/2014/main" id="{E69FFD85-C374-40D3-984B-182DD55F857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129157" y="5440362"/>
            <a:ext cx="1787979" cy="128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2</a:t>
            </a:fld>
            <a:endParaRPr/>
          </a:p>
        </p:txBody>
      </p:sp>
      <p:sp>
        <p:nvSpPr>
          <p:cNvPr id="85" name="Google Shape;85;p2">
            <a:extLst>
              <a:ext uri="{FF2B5EF4-FFF2-40B4-BE49-F238E27FC236}">
                <a16:creationId xmlns:a16="http://schemas.microsoft.com/office/drawing/2014/main" id="{2A68DC15-2BA2-4B40-A1F1-9CEF77A8B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>Цель курса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6326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Google Shape;91;p3">
            <a:extLst>
              <a:ext uri="{FF2B5EF4-FFF2-40B4-BE49-F238E27FC236}">
                <a16:creationId xmlns:a16="http://schemas.microsoft.com/office/drawing/2014/main" id="{AAE35B0C-FA77-4973-83F5-1CACE61CE886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ln w="9525" cap="flat">
            <a:solidFill>
              <a:srgbClr val="FBFFFF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92" name="Google Shape;92;p3">
            <a:extLst>
              <a:ext uri="{FF2B5EF4-FFF2-40B4-BE49-F238E27FC236}">
                <a16:creationId xmlns:a16="http://schemas.microsoft.com/office/drawing/2014/main" id="{39580D91-777A-45E6-ABA0-DD4C57D5D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59430"/>
            <a:ext cx="10281557" cy="394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457200" lvl="0" indent="-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erdana "/>
              <a:buAutoNum type="arabicPeriod"/>
            </a:pPr>
            <a:r>
              <a:rPr sz="2400"/>
              <a:t>Основы интеграции и анализ ИТ-ландшафта</a:t>
            </a:r>
            <a:endParaRPr/>
          </a:p>
          <a:p>
            <a:pPr marL="457200" lvl="0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erdana "/>
              <a:buAutoNum type="arabicPeriod"/>
            </a:pPr>
            <a:r>
              <a:rPr sz="2400"/>
              <a:t>Архитектуры и способы взаимодействия систем</a:t>
            </a:r>
            <a:endParaRPr/>
          </a:p>
          <a:p>
            <a:pPr marL="457200" lvl="0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erdana "/>
              <a:buAutoNum type="arabicPeriod"/>
            </a:pPr>
            <a:r>
              <a:rPr sz="2400"/>
              <a:t>Интерфейсы, форматы и протоколы обмена</a:t>
            </a:r>
            <a:endParaRPr/>
          </a:p>
          <a:p>
            <a:pPr marL="457200" lvl="0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erdana "/>
              <a:buAutoNum type="arabicPeriod"/>
            </a:pPr>
            <a:r>
              <a:rPr sz="2400"/>
              <a:t>Данные, синхронизация и интеграционные контракты</a:t>
            </a:r>
            <a:endParaRPr/>
          </a:p>
          <a:p>
            <a:pPr marL="457200" lvl="0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erdana "/>
              <a:buAutoNum type="arabicPeriod"/>
            </a:pPr>
            <a:r>
              <a:rPr sz="2400"/>
              <a:t>Надёжность и восстановление после сбоев</a:t>
            </a:r>
            <a:endParaRPr/>
          </a:p>
          <a:p>
            <a:pPr marL="457200" lvl="0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erdana "/>
              <a:buAutoNum type="arabicPeriod"/>
            </a:pPr>
            <a:r>
              <a:rPr sz="2400"/>
              <a:t>Информационная безопасность и защита данных</a:t>
            </a:r>
            <a:endParaRPr/>
          </a:p>
          <a:p>
            <a:pPr marL="457200" lvl="0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erdana "/>
              <a:buAutoNum type="arabicPeriod"/>
            </a:pPr>
            <a:r>
              <a:rPr sz="2400"/>
              <a:t>Производительность и работа под нагрузкой</a:t>
            </a:r>
            <a:endParaRPr/>
          </a:p>
          <a:p>
            <a:pPr marL="457200" lvl="0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erdana "/>
              <a:buAutoNum type="arabicPeriod"/>
            </a:pPr>
            <a:r>
              <a:rPr sz="2400"/>
              <a:t>Тестирование, мониторинг и подготовка к эксплуатации</a:t>
            </a:r>
            <a:endParaRPr/>
          </a:p>
        </p:txBody>
      </p:sp>
      <p:sp>
        <p:nvSpPr>
          <p:cNvPr id="93" name="Google Shape;93;p3">
            <a:extLst>
              <a:ext uri="{FF2B5EF4-FFF2-40B4-BE49-F238E27FC236}">
                <a16:creationId xmlns:a16="http://schemas.microsoft.com/office/drawing/2014/main" id="{74F2E87C-F230-4B8C-B389-856ECFBD860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129157" y="5440362"/>
            <a:ext cx="1787979" cy="128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3</a:t>
            </a:fld>
            <a:endParaRPr/>
          </a:p>
        </p:txBody>
      </p:sp>
      <p:sp>
        <p:nvSpPr>
          <p:cNvPr id="94" name="Google Shape;94;p3">
            <a:extLst>
              <a:ext uri="{FF2B5EF4-FFF2-40B4-BE49-F238E27FC236}">
                <a16:creationId xmlns:a16="http://schemas.microsoft.com/office/drawing/2014/main" id="{7140FADB-6B81-4A65-BCC1-A4542E0F8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>План курса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03731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p4">
            <a:extLst>
              <a:ext uri="{FF2B5EF4-FFF2-40B4-BE49-F238E27FC236}">
                <a16:creationId xmlns:a16="http://schemas.microsoft.com/office/drawing/2014/main" id="{D25AA54C-36D8-46FA-A2B9-B6A9E0CC9435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ln w="9525" cap="flat">
            <a:solidFill>
              <a:srgbClr val="FBFFFF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01" name="Google Shape;101;p4">
            <a:extLst>
              <a:ext uri="{FF2B5EF4-FFF2-40B4-BE49-F238E27FC236}">
                <a16:creationId xmlns:a16="http://schemas.microsoft.com/office/drawing/2014/main" id="{CCF3F866-9CAD-483C-8541-D7B3D67A2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1589" y="1623528"/>
            <a:ext cx="10281557" cy="3601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sz="2200" dirty="0" err="1"/>
              <a:t>Интеграция</a:t>
            </a:r>
            <a:r>
              <a:rPr sz="2200" dirty="0"/>
              <a:t> </a:t>
            </a:r>
            <a:r>
              <a:rPr sz="2200" dirty="0" err="1"/>
              <a:t>объединяет</a:t>
            </a:r>
            <a:r>
              <a:rPr sz="2200" dirty="0"/>
              <a:t> </a:t>
            </a:r>
            <a:r>
              <a:rPr sz="2200" dirty="0" err="1"/>
              <a:t>приложения</a:t>
            </a:r>
            <a:r>
              <a:rPr sz="2200" dirty="0"/>
              <a:t>, </a:t>
            </a:r>
            <a:r>
              <a:rPr sz="2200" dirty="0" err="1"/>
              <a:t>базы</a:t>
            </a:r>
            <a:r>
              <a:rPr sz="2200" dirty="0"/>
              <a:t> </a:t>
            </a:r>
            <a:r>
              <a:rPr sz="2200" dirty="0" err="1"/>
              <a:t>данных</a:t>
            </a:r>
            <a:r>
              <a:rPr sz="2200" dirty="0"/>
              <a:t>, </a:t>
            </a:r>
            <a:r>
              <a:rPr sz="2200" dirty="0" err="1"/>
              <a:t>сервисы</a:t>
            </a:r>
            <a:r>
              <a:rPr sz="2200" dirty="0"/>
              <a:t> и </a:t>
            </a:r>
            <a:r>
              <a:rPr sz="2200" dirty="0" err="1"/>
              <a:t>внешние</a:t>
            </a:r>
            <a:r>
              <a:rPr sz="2200" dirty="0"/>
              <a:t> </a:t>
            </a:r>
            <a:r>
              <a:rPr sz="2200" dirty="0" err="1"/>
              <a:t>источники</a:t>
            </a:r>
            <a:r>
              <a:rPr sz="2200" dirty="0"/>
              <a:t> </a:t>
            </a:r>
            <a:r>
              <a:rPr sz="2200" dirty="0" err="1"/>
              <a:t>для</a:t>
            </a:r>
            <a:r>
              <a:rPr sz="2200" dirty="0"/>
              <a:t> </a:t>
            </a:r>
            <a:r>
              <a:rPr sz="2200" dirty="0" err="1"/>
              <a:t>поддержки</a:t>
            </a:r>
            <a:r>
              <a:rPr sz="2200" dirty="0"/>
              <a:t> </a:t>
            </a:r>
            <a:r>
              <a:rPr sz="2200" dirty="0" err="1"/>
              <a:t>общего</a:t>
            </a:r>
            <a:r>
              <a:rPr sz="2200" dirty="0"/>
              <a:t> </a:t>
            </a:r>
            <a:r>
              <a:rPr sz="2200" dirty="0" err="1"/>
              <a:t>процесса</a:t>
            </a:r>
            <a:r>
              <a:rPr sz="22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sz="2200" dirty="0" err="1"/>
              <a:t>Основные</a:t>
            </a:r>
            <a:r>
              <a:rPr sz="2200" dirty="0"/>
              <a:t> </a:t>
            </a:r>
            <a:r>
              <a:rPr sz="2200" dirty="0" err="1"/>
              <a:t>задачи</a:t>
            </a:r>
            <a:r>
              <a:rPr sz="2200" dirty="0"/>
              <a:t>: </a:t>
            </a:r>
            <a:r>
              <a:rPr sz="2200" dirty="0" err="1"/>
              <a:t>автоматизировать</a:t>
            </a:r>
            <a:r>
              <a:rPr sz="2200" dirty="0"/>
              <a:t> </a:t>
            </a:r>
            <a:r>
              <a:rPr sz="2200" dirty="0" err="1"/>
              <a:t>обмен</a:t>
            </a:r>
            <a:r>
              <a:rPr sz="2200" dirty="0"/>
              <a:t>, </a:t>
            </a:r>
            <a:r>
              <a:rPr sz="2200" dirty="0" err="1"/>
              <a:t>сократить</a:t>
            </a:r>
            <a:r>
              <a:rPr sz="2200" dirty="0"/>
              <a:t> </a:t>
            </a:r>
            <a:r>
              <a:rPr sz="2200" dirty="0" err="1"/>
              <a:t>ручной</a:t>
            </a:r>
            <a:r>
              <a:rPr sz="2200" dirty="0"/>
              <a:t> </a:t>
            </a:r>
            <a:r>
              <a:rPr sz="2200" dirty="0" err="1"/>
              <a:t>ввод</a:t>
            </a:r>
            <a:r>
              <a:rPr sz="2200" dirty="0"/>
              <a:t> и </a:t>
            </a:r>
            <a:r>
              <a:rPr sz="2200" dirty="0" err="1"/>
              <a:t>сделать</a:t>
            </a:r>
            <a:r>
              <a:rPr sz="2200" dirty="0"/>
              <a:t> </a:t>
            </a:r>
            <a:r>
              <a:rPr sz="2200" dirty="0" err="1"/>
              <a:t>информацию</a:t>
            </a:r>
            <a:r>
              <a:rPr sz="2200" dirty="0"/>
              <a:t> </a:t>
            </a:r>
            <a:r>
              <a:rPr sz="2200" dirty="0" err="1"/>
              <a:t>согласованной</a:t>
            </a:r>
            <a:r>
              <a:rPr sz="22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sz="2200" dirty="0" err="1"/>
              <a:t>Перед</a:t>
            </a:r>
            <a:r>
              <a:rPr sz="2200" dirty="0"/>
              <a:t> </a:t>
            </a:r>
            <a:r>
              <a:rPr sz="2200" dirty="0" err="1"/>
              <a:t>проектированием</a:t>
            </a:r>
            <a:r>
              <a:rPr sz="2200" dirty="0"/>
              <a:t> </a:t>
            </a:r>
            <a:r>
              <a:rPr sz="2200" dirty="0" err="1"/>
              <a:t>необходимо</a:t>
            </a:r>
            <a:r>
              <a:rPr sz="2200" dirty="0"/>
              <a:t> </a:t>
            </a:r>
            <a:r>
              <a:rPr sz="2200" dirty="0" err="1"/>
              <a:t>изучить</a:t>
            </a:r>
            <a:r>
              <a:rPr sz="2200" dirty="0"/>
              <a:t> </a:t>
            </a:r>
            <a:r>
              <a:rPr sz="2200" dirty="0" err="1"/>
              <a:t>текущий</a:t>
            </a:r>
            <a:r>
              <a:rPr sz="2200" dirty="0"/>
              <a:t> ИТ-</a:t>
            </a:r>
            <a:r>
              <a:rPr sz="2200" dirty="0" err="1"/>
              <a:t>ландшафт</a:t>
            </a:r>
            <a:r>
              <a:rPr sz="2200" dirty="0"/>
              <a:t>, </a:t>
            </a:r>
            <a:r>
              <a:rPr sz="2200" dirty="0" err="1"/>
              <a:t>найти</a:t>
            </a:r>
            <a:r>
              <a:rPr sz="2200" dirty="0"/>
              <a:t> </a:t>
            </a:r>
            <a:r>
              <a:rPr sz="2200" dirty="0" err="1"/>
              <a:t>изолированные</a:t>
            </a:r>
            <a:r>
              <a:rPr sz="2200" dirty="0"/>
              <a:t> </a:t>
            </a:r>
            <a:r>
              <a:rPr sz="2200" dirty="0" err="1"/>
              <a:t>системы</a:t>
            </a:r>
            <a:r>
              <a:rPr sz="2200" dirty="0"/>
              <a:t>, </a:t>
            </a:r>
            <a:r>
              <a:rPr sz="2200" dirty="0" err="1"/>
              <a:t>дублирование</a:t>
            </a:r>
            <a:r>
              <a:rPr sz="2200" dirty="0"/>
              <a:t> </a:t>
            </a:r>
            <a:r>
              <a:rPr sz="2200" dirty="0" err="1"/>
              <a:t>данных</a:t>
            </a:r>
            <a:r>
              <a:rPr sz="2200" dirty="0"/>
              <a:t> и </a:t>
            </a:r>
            <a:r>
              <a:rPr sz="2200" dirty="0" err="1"/>
              <a:t>несовместимые</a:t>
            </a:r>
            <a:r>
              <a:rPr sz="2200" dirty="0"/>
              <a:t> </a:t>
            </a:r>
            <a:r>
              <a:rPr sz="2200" dirty="0" err="1"/>
              <a:t>форматы</a:t>
            </a:r>
            <a:r>
              <a:rPr sz="22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sz="2200" dirty="0" err="1"/>
              <a:t>Интеграция</a:t>
            </a:r>
            <a:r>
              <a:rPr sz="2200" dirty="0"/>
              <a:t> </a:t>
            </a:r>
            <a:r>
              <a:rPr sz="2200" dirty="0" err="1"/>
              <a:t>может</a:t>
            </a:r>
            <a:r>
              <a:rPr sz="2200" dirty="0"/>
              <a:t> </a:t>
            </a:r>
            <a:r>
              <a:rPr sz="2200" dirty="0" err="1"/>
              <a:t>выполняться</a:t>
            </a:r>
            <a:r>
              <a:rPr sz="2200" dirty="0"/>
              <a:t> </a:t>
            </a:r>
            <a:r>
              <a:rPr sz="2200" dirty="0" err="1"/>
              <a:t>на</a:t>
            </a:r>
            <a:r>
              <a:rPr sz="2200" dirty="0"/>
              <a:t> </a:t>
            </a:r>
            <a:r>
              <a:rPr sz="2200" dirty="0" err="1"/>
              <a:t>уровне</a:t>
            </a:r>
            <a:r>
              <a:rPr sz="2200" dirty="0"/>
              <a:t> </a:t>
            </a:r>
            <a:r>
              <a:rPr sz="2200" dirty="0" err="1"/>
              <a:t>данных</a:t>
            </a:r>
            <a:r>
              <a:rPr sz="2200" dirty="0"/>
              <a:t>, </a:t>
            </a:r>
            <a:r>
              <a:rPr sz="2200" dirty="0" err="1"/>
              <a:t>приложений</a:t>
            </a:r>
            <a:r>
              <a:rPr sz="2200" dirty="0"/>
              <a:t> </a:t>
            </a:r>
            <a:r>
              <a:rPr sz="2200" dirty="0" err="1"/>
              <a:t>или</a:t>
            </a:r>
            <a:r>
              <a:rPr sz="2200" dirty="0"/>
              <a:t> </a:t>
            </a:r>
            <a:r>
              <a:rPr sz="2200" dirty="0" err="1"/>
              <a:t>бизнес-процессов</a:t>
            </a:r>
            <a:r>
              <a:rPr sz="2200" dirty="0"/>
              <a:t>.</a:t>
            </a:r>
            <a:endParaRPr dirty="0"/>
          </a:p>
        </p:txBody>
      </p:sp>
      <p:sp>
        <p:nvSpPr>
          <p:cNvPr id="102" name="Google Shape;102;p4">
            <a:extLst>
              <a:ext uri="{FF2B5EF4-FFF2-40B4-BE49-F238E27FC236}">
                <a16:creationId xmlns:a16="http://schemas.microsoft.com/office/drawing/2014/main" id="{C82D8914-C18A-4946-9BA4-8E1EE6C7FB1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129157" y="5440362"/>
            <a:ext cx="1787979" cy="128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4</a:t>
            </a:fld>
            <a:endParaRPr/>
          </a:p>
        </p:txBody>
      </p:sp>
      <p:sp>
        <p:nvSpPr>
          <p:cNvPr id="103" name="Google Shape;103;p4">
            <a:extLst>
              <a:ext uri="{FF2B5EF4-FFF2-40B4-BE49-F238E27FC236}">
                <a16:creationId xmlns:a16="http://schemas.microsoft.com/office/drawing/2014/main" id="{24D50DC6-7145-4FD8-AC26-C35802711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>Основы интеграции информационных систем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1240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Google Shape;109;p5">
            <a:extLst>
              <a:ext uri="{FF2B5EF4-FFF2-40B4-BE49-F238E27FC236}">
                <a16:creationId xmlns:a16="http://schemas.microsoft.com/office/drawing/2014/main" id="{FDDEE66C-EB96-4901-8C61-C903448834AB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ln w="9525" cap="flat">
            <a:solidFill>
              <a:srgbClr val="FBFFFF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10" name="Google Shape;110;p5">
            <a:extLst>
              <a:ext uri="{FF2B5EF4-FFF2-40B4-BE49-F238E27FC236}">
                <a16:creationId xmlns:a16="http://schemas.microsoft.com/office/drawing/2014/main" id="{FCC2A707-0870-427A-982A-6632D502E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1589" y="1492899"/>
            <a:ext cx="10281557" cy="3601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sz="2200" dirty="0" err="1"/>
              <a:t>Прямое</a:t>
            </a:r>
            <a:r>
              <a:rPr sz="2200" dirty="0"/>
              <a:t> </a:t>
            </a:r>
            <a:r>
              <a:rPr sz="2200" dirty="0" err="1"/>
              <a:t>соединение</a:t>
            </a:r>
            <a:r>
              <a:rPr sz="2200" dirty="0"/>
              <a:t> </a:t>
            </a:r>
            <a:r>
              <a:rPr sz="2200" dirty="0" err="1"/>
              <a:t>подходит</a:t>
            </a:r>
            <a:r>
              <a:rPr sz="2200" dirty="0"/>
              <a:t> </a:t>
            </a:r>
            <a:r>
              <a:rPr sz="2200" dirty="0" err="1"/>
              <a:t>для</a:t>
            </a:r>
            <a:r>
              <a:rPr sz="2200" dirty="0"/>
              <a:t> </a:t>
            </a:r>
            <a:r>
              <a:rPr sz="2200" dirty="0" err="1"/>
              <a:t>небольшого</a:t>
            </a:r>
            <a:r>
              <a:rPr sz="2200" dirty="0"/>
              <a:t> </a:t>
            </a:r>
            <a:r>
              <a:rPr sz="2200" dirty="0" err="1"/>
              <a:t>числа</a:t>
            </a:r>
            <a:r>
              <a:rPr sz="2200" dirty="0"/>
              <a:t> </a:t>
            </a:r>
            <a:r>
              <a:rPr sz="2200" dirty="0" err="1"/>
              <a:t>систем</a:t>
            </a:r>
            <a:r>
              <a:rPr sz="2200" dirty="0"/>
              <a:t>, </a:t>
            </a:r>
            <a:r>
              <a:rPr sz="2200" dirty="0" err="1"/>
              <a:t>но</a:t>
            </a:r>
            <a:r>
              <a:rPr sz="2200" dirty="0"/>
              <a:t> </a:t>
            </a:r>
            <a:r>
              <a:rPr sz="2200" dirty="0" err="1"/>
              <a:t>при</a:t>
            </a:r>
            <a:r>
              <a:rPr sz="2200" dirty="0"/>
              <a:t> </a:t>
            </a:r>
            <a:r>
              <a:rPr sz="2200" dirty="0" err="1"/>
              <a:t>росте</a:t>
            </a:r>
            <a:r>
              <a:rPr sz="2200" dirty="0"/>
              <a:t> ИТ-</a:t>
            </a:r>
            <a:r>
              <a:rPr sz="2200" dirty="0" err="1"/>
              <a:t>ландшафта</a:t>
            </a:r>
            <a:r>
              <a:rPr sz="2200" dirty="0"/>
              <a:t> </a:t>
            </a:r>
            <a:r>
              <a:rPr sz="2200" dirty="0" err="1"/>
              <a:t>увеличивает</a:t>
            </a:r>
            <a:r>
              <a:rPr sz="2200" dirty="0"/>
              <a:t> </a:t>
            </a:r>
            <a:r>
              <a:rPr sz="2200" dirty="0" err="1"/>
              <a:t>связанность</a:t>
            </a:r>
            <a:r>
              <a:rPr sz="22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sz="2200" dirty="0" err="1"/>
              <a:t>Интеграционная</a:t>
            </a:r>
            <a:r>
              <a:rPr sz="2200" dirty="0"/>
              <a:t> </a:t>
            </a:r>
            <a:r>
              <a:rPr sz="2200" dirty="0" err="1"/>
              <a:t>шина</a:t>
            </a:r>
            <a:r>
              <a:rPr sz="2200" dirty="0"/>
              <a:t> </a:t>
            </a:r>
            <a:r>
              <a:rPr sz="2200" dirty="0" err="1"/>
              <a:t>централизует</a:t>
            </a:r>
            <a:r>
              <a:rPr sz="2200" dirty="0"/>
              <a:t> </a:t>
            </a:r>
            <a:r>
              <a:rPr sz="2200" dirty="0" err="1"/>
              <a:t>маршрутизацию</a:t>
            </a:r>
            <a:r>
              <a:rPr sz="2200" dirty="0"/>
              <a:t> и </a:t>
            </a:r>
            <a:r>
              <a:rPr sz="2200" dirty="0" err="1"/>
              <a:t>преобразование</a:t>
            </a:r>
            <a:r>
              <a:rPr sz="2200" dirty="0"/>
              <a:t> </a:t>
            </a:r>
            <a:r>
              <a:rPr sz="2200" dirty="0" err="1"/>
              <a:t>сообщений</a:t>
            </a:r>
            <a:r>
              <a:rPr sz="2200" dirty="0"/>
              <a:t>. API </a:t>
            </a:r>
            <a:r>
              <a:rPr sz="2200" dirty="0" err="1"/>
              <a:t>задаёт</a:t>
            </a:r>
            <a:r>
              <a:rPr sz="2200" dirty="0"/>
              <a:t> </a:t>
            </a:r>
            <a:r>
              <a:rPr sz="2200" dirty="0" err="1"/>
              <a:t>управляемый</a:t>
            </a:r>
            <a:r>
              <a:rPr sz="2200" dirty="0"/>
              <a:t> </a:t>
            </a:r>
            <a:r>
              <a:rPr sz="2200" dirty="0" err="1"/>
              <a:t>интерфейс</a:t>
            </a:r>
            <a:r>
              <a:rPr sz="2200" dirty="0"/>
              <a:t> </a:t>
            </a:r>
            <a:r>
              <a:rPr sz="2200" dirty="0" err="1"/>
              <a:t>между</a:t>
            </a:r>
            <a:r>
              <a:rPr sz="2200" dirty="0"/>
              <a:t> </a:t>
            </a:r>
            <a:r>
              <a:rPr sz="2200" dirty="0" err="1"/>
              <a:t>приложениями</a:t>
            </a:r>
            <a:r>
              <a:rPr sz="22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sz="2200" dirty="0" err="1"/>
              <a:t>Очереди</a:t>
            </a:r>
            <a:r>
              <a:rPr sz="2200" dirty="0"/>
              <a:t> и </a:t>
            </a:r>
            <a:r>
              <a:rPr sz="2200" dirty="0" err="1"/>
              <a:t>брокеры</a:t>
            </a:r>
            <a:r>
              <a:rPr sz="2200" dirty="0"/>
              <a:t> </a:t>
            </a:r>
            <a:r>
              <a:rPr sz="2200" dirty="0" err="1"/>
              <a:t>позволяют</a:t>
            </a:r>
            <a:r>
              <a:rPr sz="2200" dirty="0"/>
              <a:t> </a:t>
            </a:r>
            <a:r>
              <a:rPr sz="2200" dirty="0" err="1"/>
              <a:t>обмениваться</a:t>
            </a:r>
            <a:r>
              <a:rPr sz="2200" dirty="0"/>
              <a:t> </a:t>
            </a:r>
            <a:r>
              <a:rPr sz="2200" dirty="0" err="1"/>
              <a:t>данными</a:t>
            </a:r>
            <a:r>
              <a:rPr sz="2200" dirty="0"/>
              <a:t> </a:t>
            </a:r>
            <a:r>
              <a:rPr sz="2200" dirty="0" err="1"/>
              <a:t>асинхронно</a:t>
            </a:r>
            <a:r>
              <a:rPr sz="2200" dirty="0"/>
              <a:t>. </a:t>
            </a:r>
            <a:r>
              <a:rPr sz="2200" dirty="0" err="1"/>
              <a:t>Событийная</a:t>
            </a:r>
            <a:r>
              <a:rPr sz="2200" dirty="0"/>
              <a:t> </a:t>
            </a:r>
            <a:r>
              <a:rPr sz="2200" dirty="0" err="1"/>
              <a:t>архитектура</a:t>
            </a:r>
            <a:r>
              <a:rPr sz="2200" dirty="0"/>
              <a:t> </a:t>
            </a:r>
            <a:r>
              <a:rPr sz="2200" dirty="0" err="1"/>
              <a:t>помогает</a:t>
            </a:r>
            <a:r>
              <a:rPr sz="2200" dirty="0"/>
              <a:t> </a:t>
            </a:r>
            <a:r>
              <a:rPr sz="2200" dirty="0" err="1"/>
              <a:t>доставить</a:t>
            </a:r>
            <a:r>
              <a:rPr sz="2200" dirty="0"/>
              <a:t> </a:t>
            </a:r>
            <a:r>
              <a:rPr sz="2200" dirty="0" err="1"/>
              <a:t>одно</a:t>
            </a:r>
            <a:r>
              <a:rPr sz="2200" dirty="0"/>
              <a:t> </a:t>
            </a:r>
            <a:r>
              <a:rPr sz="2200" dirty="0" err="1"/>
              <a:t>событие</a:t>
            </a:r>
            <a:r>
              <a:rPr sz="2200" dirty="0"/>
              <a:t> </a:t>
            </a:r>
            <a:r>
              <a:rPr sz="2200" dirty="0" err="1"/>
              <a:t>нескольким</a:t>
            </a:r>
            <a:r>
              <a:rPr sz="2200" dirty="0"/>
              <a:t> </a:t>
            </a:r>
            <a:r>
              <a:rPr sz="2200" dirty="0" err="1"/>
              <a:t>подписчикам</a:t>
            </a:r>
            <a:r>
              <a:rPr sz="22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sz="2200" dirty="0" err="1"/>
              <a:t>Выбор</a:t>
            </a:r>
            <a:r>
              <a:rPr sz="2200" dirty="0"/>
              <a:t> </a:t>
            </a:r>
            <a:r>
              <a:rPr sz="2200" dirty="0" err="1"/>
              <a:t>архитектуры</a:t>
            </a:r>
            <a:r>
              <a:rPr sz="2200" dirty="0"/>
              <a:t> </a:t>
            </a:r>
            <a:r>
              <a:rPr sz="2200" dirty="0" err="1"/>
              <a:t>зависит</a:t>
            </a:r>
            <a:r>
              <a:rPr sz="2200" dirty="0"/>
              <a:t> </a:t>
            </a:r>
            <a:r>
              <a:rPr sz="2200" dirty="0" err="1"/>
              <a:t>от</a:t>
            </a:r>
            <a:r>
              <a:rPr sz="2200" dirty="0"/>
              <a:t> </a:t>
            </a:r>
            <a:r>
              <a:rPr sz="2200" dirty="0" err="1"/>
              <a:t>количества</a:t>
            </a:r>
            <a:r>
              <a:rPr sz="2200" dirty="0"/>
              <a:t> </a:t>
            </a:r>
            <a:r>
              <a:rPr sz="2200" dirty="0" err="1"/>
              <a:t>участников</a:t>
            </a:r>
            <a:r>
              <a:rPr sz="2200" dirty="0"/>
              <a:t>, </a:t>
            </a:r>
            <a:r>
              <a:rPr sz="2200" dirty="0" err="1"/>
              <a:t>критичности</a:t>
            </a:r>
            <a:r>
              <a:rPr sz="2200" dirty="0"/>
              <a:t> </a:t>
            </a:r>
            <a:r>
              <a:rPr sz="2200" dirty="0" err="1"/>
              <a:t>процесса</a:t>
            </a:r>
            <a:r>
              <a:rPr sz="2200" dirty="0"/>
              <a:t> и </a:t>
            </a:r>
            <a:r>
              <a:rPr sz="2200" dirty="0" err="1"/>
              <a:t>требований</a:t>
            </a:r>
            <a:r>
              <a:rPr sz="2200" dirty="0"/>
              <a:t> к </a:t>
            </a:r>
            <a:r>
              <a:rPr sz="2200" dirty="0" err="1"/>
              <a:t>масштабированию</a:t>
            </a:r>
            <a:r>
              <a:rPr sz="2200" dirty="0"/>
              <a:t>.</a:t>
            </a:r>
            <a:endParaRPr dirty="0"/>
          </a:p>
        </p:txBody>
      </p:sp>
      <p:sp>
        <p:nvSpPr>
          <p:cNvPr id="111" name="Google Shape;111;p5">
            <a:extLst>
              <a:ext uri="{FF2B5EF4-FFF2-40B4-BE49-F238E27FC236}">
                <a16:creationId xmlns:a16="http://schemas.microsoft.com/office/drawing/2014/main" id="{0752B4CD-8F8A-4D19-B9D5-95C1537BA59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129157" y="5440362"/>
            <a:ext cx="1787979" cy="128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5</a:t>
            </a:fld>
            <a:endParaRPr/>
          </a:p>
        </p:txBody>
      </p:sp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B18B5A64-A957-4B73-B1CC-EC8AB02FA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7382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dirty="0" err="1"/>
              <a:t>Архитектуры</a:t>
            </a:r>
            <a:r>
              <a:rPr dirty="0"/>
              <a:t> и </a:t>
            </a:r>
            <a:r>
              <a:rPr dirty="0" err="1"/>
              <a:t>способы</a:t>
            </a:r>
            <a:r>
              <a:rPr dirty="0"/>
              <a:t> </a:t>
            </a:r>
            <a:r>
              <a:rPr dirty="0" err="1"/>
              <a:t>взаимодействия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7134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6">
            <a:extLst>
              <a:ext uri="{FF2B5EF4-FFF2-40B4-BE49-F238E27FC236}">
                <a16:creationId xmlns:a16="http://schemas.microsoft.com/office/drawing/2014/main" id="{7BE742E0-BCD8-438E-A1F4-2AA650F96A08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ln w="9525" cap="flat">
            <a:solidFill>
              <a:srgbClr val="FBFFFF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19" name="Google Shape;119;p6">
            <a:extLst>
              <a:ext uri="{FF2B5EF4-FFF2-40B4-BE49-F238E27FC236}">
                <a16:creationId xmlns:a16="http://schemas.microsoft.com/office/drawing/2014/main" id="{911BF9C0-B5ED-4160-A993-22A2FBA2D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24983"/>
            <a:ext cx="10281557" cy="3601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sz="2200" dirty="0" err="1"/>
              <a:t>Для</a:t>
            </a:r>
            <a:r>
              <a:rPr sz="2200" dirty="0"/>
              <a:t> </a:t>
            </a:r>
            <a:r>
              <a:rPr sz="2200" dirty="0" err="1"/>
              <a:t>взаимодействия</a:t>
            </a:r>
            <a:r>
              <a:rPr sz="2200" dirty="0"/>
              <a:t> </a:t>
            </a:r>
            <a:r>
              <a:rPr sz="2200" dirty="0" err="1"/>
              <a:t>применяются</a:t>
            </a:r>
            <a:r>
              <a:rPr sz="2200" dirty="0"/>
              <a:t> REST API, SOAP, </a:t>
            </a:r>
            <a:r>
              <a:rPr sz="2200" dirty="0" err="1"/>
              <a:t>WebSocket</a:t>
            </a:r>
            <a:r>
              <a:rPr sz="2200" dirty="0"/>
              <a:t> и </a:t>
            </a:r>
            <a:r>
              <a:rPr sz="2200" dirty="0" err="1"/>
              <a:t>другие</a:t>
            </a:r>
            <a:r>
              <a:rPr sz="2200" dirty="0"/>
              <a:t> </a:t>
            </a:r>
            <a:r>
              <a:rPr sz="2200" dirty="0" err="1"/>
              <a:t>интерфейсы</a:t>
            </a:r>
            <a:r>
              <a:rPr sz="22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sz="2200" dirty="0" err="1"/>
              <a:t>Данные</a:t>
            </a:r>
            <a:r>
              <a:rPr sz="2200" dirty="0"/>
              <a:t> </a:t>
            </a:r>
            <a:r>
              <a:rPr sz="2200" dirty="0" err="1"/>
              <a:t>могут</a:t>
            </a:r>
            <a:r>
              <a:rPr sz="2200" dirty="0"/>
              <a:t> </a:t>
            </a:r>
            <a:r>
              <a:rPr sz="2200" dirty="0" err="1"/>
              <a:t>передаваться</a:t>
            </a:r>
            <a:r>
              <a:rPr sz="2200" dirty="0"/>
              <a:t> в </a:t>
            </a:r>
            <a:r>
              <a:rPr sz="2200" dirty="0" err="1"/>
              <a:t>форматах</a:t>
            </a:r>
            <a:r>
              <a:rPr sz="2200" dirty="0"/>
              <a:t> JSON, XML </a:t>
            </a:r>
            <a:r>
              <a:rPr sz="2200" dirty="0" err="1"/>
              <a:t>или</a:t>
            </a:r>
            <a:r>
              <a:rPr sz="2200" dirty="0"/>
              <a:t> CSV. </a:t>
            </a:r>
            <a:r>
              <a:rPr sz="2200" dirty="0" err="1"/>
              <a:t>Протоколы</a:t>
            </a:r>
            <a:r>
              <a:rPr sz="2200" dirty="0"/>
              <a:t> HTTP/HTTPS, AMQP, FTP и SFTP </a:t>
            </a:r>
            <a:r>
              <a:rPr sz="2200" dirty="0" err="1"/>
              <a:t>определяют</a:t>
            </a:r>
            <a:r>
              <a:rPr sz="2200" dirty="0"/>
              <a:t> </a:t>
            </a:r>
            <a:r>
              <a:rPr sz="2200" dirty="0" err="1"/>
              <a:t>способ</a:t>
            </a:r>
            <a:r>
              <a:rPr sz="2200" dirty="0"/>
              <a:t> </a:t>
            </a:r>
            <a:r>
              <a:rPr sz="2200" dirty="0" err="1"/>
              <a:t>доставки</a:t>
            </a:r>
            <a:r>
              <a:rPr sz="22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sz="2200" dirty="0" err="1"/>
              <a:t>При</a:t>
            </a:r>
            <a:r>
              <a:rPr sz="2200" dirty="0"/>
              <a:t> </a:t>
            </a:r>
            <a:r>
              <a:rPr sz="2200" dirty="0" err="1"/>
              <a:t>проектировании</a:t>
            </a:r>
            <a:r>
              <a:rPr sz="2200" dirty="0"/>
              <a:t> </a:t>
            </a:r>
            <a:r>
              <a:rPr sz="2200" dirty="0" err="1"/>
              <a:t>учитываются</a:t>
            </a:r>
            <a:r>
              <a:rPr sz="2200" dirty="0"/>
              <a:t> </a:t>
            </a:r>
            <a:r>
              <a:rPr sz="2200" dirty="0" err="1"/>
              <a:t>методы</a:t>
            </a:r>
            <a:r>
              <a:rPr sz="2200" dirty="0"/>
              <a:t> </a:t>
            </a:r>
            <a:r>
              <a:rPr sz="2200" dirty="0" err="1"/>
              <a:t>запросов</a:t>
            </a:r>
            <a:r>
              <a:rPr sz="2200" dirty="0"/>
              <a:t>, </a:t>
            </a:r>
            <a:r>
              <a:rPr sz="2200" dirty="0" err="1"/>
              <a:t>параметры</a:t>
            </a:r>
            <a:r>
              <a:rPr sz="2200" dirty="0"/>
              <a:t>, </a:t>
            </a:r>
            <a:r>
              <a:rPr sz="2200" dirty="0" err="1"/>
              <a:t>заголовки</a:t>
            </a:r>
            <a:r>
              <a:rPr sz="2200" dirty="0"/>
              <a:t>, </a:t>
            </a:r>
            <a:r>
              <a:rPr sz="2200" dirty="0" err="1"/>
              <a:t>коды</a:t>
            </a:r>
            <a:r>
              <a:rPr sz="2200" dirty="0"/>
              <a:t> </a:t>
            </a:r>
            <a:r>
              <a:rPr sz="2200" dirty="0" err="1"/>
              <a:t>ответа</a:t>
            </a:r>
            <a:r>
              <a:rPr sz="2200" dirty="0"/>
              <a:t> и </a:t>
            </a:r>
            <a:r>
              <a:rPr sz="2200" dirty="0" err="1"/>
              <a:t>схема</a:t>
            </a:r>
            <a:r>
              <a:rPr sz="2200" dirty="0"/>
              <a:t> </a:t>
            </a:r>
            <a:r>
              <a:rPr sz="2200" dirty="0" err="1"/>
              <a:t>сообщения</a:t>
            </a:r>
            <a:r>
              <a:rPr sz="22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sz="2200" dirty="0" err="1"/>
              <a:t>Главная</a:t>
            </a:r>
            <a:r>
              <a:rPr sz="2200" dirty="0"/>
              <a:t> </a:t>
            </a:r>
            <a:r>
              <a:rPr sz="2200" dirty="0" err="1"/>
              <a:t>задача</a:t>
            </a:r>
            <a:r>
              <a:rPr sz="2200" dirty="0"/>
              <a:t> — </a:t>
            </a:r>
            <a:r>
              <a:rPr sz="2200" dirty="0" err="1"/>
              <a:t>обеспечить</a:t>
            </a:r>
            <a:r>
              <a:rPr sz="2200" dirty="0"/>
              <a:t> </a:t>
            </a:r>
            <a:r>
              <a:rPr sz="2200" dirty="0" err="1"/>
              <a:t>совместимость</a:t>
            </a:r>
            <a:r>
              <a:rPr sz="2200" dirty="0"/>
              <a:t> </a:t>
            </a:r>
            <a:r>
              <a:rPr sz="2200" dirty="0" err="1"/>
              <a:t>систем</a:t>
            </a:r>
            <a:r>
              <a:rPr sz="2200" dirty="0"/>
              <a:t>, </a:t>
            </a:r>
            <a:r>
              <a:rPr sz="2200" dirty="0" err="1"/>
              <a:t>даже</a:t>
            </a:r>
            <a:r>
              <a:rPr sz="2200" dirty="0"/>
              <a:t> </a:t>
            </a:r>
            <a:r>
              <a:rPr sz="2200" dirty="0" err="1"/>
              <a:t>если</a:t>
            </a:r>
            <a:r>
              <a:rPr sz="2200" dirty="0"/>
              <a:t> </a:t>
            </a:r>
            <a:r>
              <a:rPr sz="2200" dirty="0" err="1"/>
              <a:t>они</a:t>
            </a:r>
            <a:r>
              <a:rPr sz="2200" dirty="0"/>
              <a:t> </a:t>
            </a:r>
            <a:r>
              <a:rPr sz="2200" dirty="0" err="1"/>
              <a:t>используют</a:t>
            </a:r>
            <a:r>
              <a:rPr sz="2200" dirty="0"/>
              <a:t> </a:t>
            </a:r>
            <a:r>
              <a:rPr sz="2200" dirty="0" err="1"/>
              <a:t>разные</a:t>
            </a:r>
            <a:r>
              <a:rPr sz="2200" dirty="0"/>
              <a:t> </a:t>
            </a:r>
            <a:r>
              <a:rPr sz="2200" dirty="0" err="1"/>
              <a:t>платформы</a:t>
            </a:r>
            <a:r>
              <a:rPr sz="2200" dirty="0"/>
              <a:t> и </a:t>
            </a:r>
            <a:r>
              <a:rPr sz="2200" dirty="0" err="1"/>
              <a:t>технологии</a:t>
            </a:r>
            <a:r>
              <a:rPr sz="2200" dirty="0"/>
              <a:t>.</a:t>
            </a:r>
            <a:endParaRPr dirty="0"/>
          </a:p>
        </p:txBody>
      </p:sp>
      <p:sp>
        <p:nvSpPr>
          <p:cNvPr id="120" name="Google Shape;120;p6">
            <a:extLst>
              <a:ext uri="{FF2B5EF4-FFF2-40B4-BE49-F238E27FC236}">
                <a16:creationId xmlns:a16="http://schemas.microsoft.com/office/drawing/2014/main" id="{06ADC17C-8BBD-4ACE-9141-9C30DA3024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129157" y="5440362"/>
            <a:ext cx="1787979" cy="128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6</a:t>
            </a:fld>
            <a:endParaRPr/>
          </a:p>
        </p:txBody>
      </p:sp>
      <p:sp>
        <p:nvSpPr>
          <p:cNvPr id="121" name="Google Shape;121;p6">
            <a:extLst>
              <a:ext uri="{FF2B5EF4-FFF2-40B4-BE49-F238E27FC236}">
                <a16:creationId xmlns:a16="http://schemas.microsoft.com/office/drawing/2014/main" id="{8EBFF337-CA6F-4989-859E-4AD52C9A2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737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dirty="0" err="1"/>
              <a:t>Интерфейсы</a:t>
            </a:r>
            <a:r>
              <a:rPr dirty="0"/>
              <a:t>, </a:t>
            </a:r>
            <a:r>
              <a:rPr dirty="0" err="1"/>
              <a:t>форматы</a:t>
            </a:r>
            <a:r>
              <a:rPr dirty="0"/>
              <a:t> и </a:t>
            </a:r>
            <a:r>
              <a:rPr dirty="0" err="1"/>
              <a:t>протоколы</a:t>
            </a:r>
            <a:r>
              <a:rPr dirty="0"/>
              <a:t> </a:t>
            </a:r>
            <a:r>
              <a:rPr dirty="0" err="1"/>
              <a:t>обмена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4445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Google Shape;127;p7">
            <a:extLst>
              <a:ext uri="{FF2B5EF4-FFF2-40B4-BE49-F238E27FC236}">
                <a16:creationId xmlns:a16="http://schemas.microsoft.com/office/drawing/2014/main" id="{399DA6CE-4B84-4309-A3C5-70DF9528019E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ln w="9525" cap="flat">
            <a:solidFill>
              <a:srgbClr val="FBFFFF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28" name="Google Shape;128;p7">
            <a:extLst>
              <a:ext uri="{FF2B5EF4-FFF2-40B4-BE49-F238E27FC236}">
                <a16:creationId xmlns:a16="http://schemas.microsoft.com/office/drawing/2014/main" id="{46BDD52E-A491-4C3A-ABC9-B4EF61E08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2258" y="1586206"/>
            <a:ext cx="10281557" cy="3601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ru-RU" sz="2200" dirty="0" smtClean="0"/>
              <a:t> </a:t>
            </a:r>
            <a:r>
              <a:rPr sz="2200" dirty="0" err="1" smtClean="0"/>
              <a:t>Обмен</a:t>
            </a:r>
            <a:r>
              <a:rPr sz="2200" dirty="0" smtClean="0"/>
              <a:t> </a:t>
            </a:r>
            <a:r>
              <a:rPr sz="2200" dirty="0" err="1"/>
              <a:t>может</a:t>
            </a:r>
            <a:r>
              <a:rPr sz="2200" dirty="0"/>
              <a:t> </a:t>
            </a:r>
            <a:r>
              <a:rPr sz="2200" dirty="0" err="1"/>
              <a:t>проходить</a:t>
            </a:r>
            <a:r>
              <a:rPr sz="2200" dirty="0"/>
              <a:t> в </a:t>
            </a:r>
            <a:r>
              <a:rPr sz="2200" dirty="0" err="1"/>
              <a:t>реальном</a:t>
            </a:r>
            <a:r>
              <a:rPr sz="2200" dirty="0"/>
              <a:t> </a:t>
            </a:r>
            <a:r>
              <a:rPr sz="2200" dirty="0" err="1"/>
              <a:t>времени</a:t>
            </a:r>
            <a:r>
              <a:rPr sz="2200" dirty="0"/>
              <a:t>, </a:t>
            </a:r>
            <a:r>
              <a:rPr sz="2200" dirty="0" err="1"/>
              <a:t>по</a:t>
            </a:r>
            <a:r>
              <a:rPr sz="2200" dirty="0"/>
              <a:t> </a:t>
            </a:r>
            <a:r>
              <a:rPr sz="2200" dirty="0" err="1"/>
              <a:t>расписанию</a:t>
            </a:r>
            <a:r>
              <a:rPr sz="2200" dirty="0"/>
              <a:t> </a:t>
            </a:r>
            <a:r>
              <a:rPr sz="2200" dirty="0" err="1"/>
              <a:t>или</a:t>
            </a:r>
            <a:r>
              <a:rPr sz="2200" dirty="0"/>
              <a:t> </a:t>
            </a:r>
            <a:r>
              <a:rPr sz="2200" dirty="0" err="1"/>
              <a:t>пакетами</a:t>
            </a:r>
            <a:r>
              <a:rPr sz="2200" dirty="0" smtClean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ru-RU" sz="2200" dirty="0" smtClean="0"/>
              <a:t> </a:t>
            </a:r>
            <a:r>
              <a:rPr sz="2200" dirty="0" err="1" smtClean="0"/>
              <a:t>Нужно</a:t>
            </a:r>
            <a:r>
              <a:rPr sz="2200" dirty="0" smtClean="0"/>
              <a:t> </a:t>
            </a:r>
            <a:r>
              <a:rPr sz="2200" dirty="0" err="1"/>
              <a:t>определить</a:t>
            </a:r>
            <a:r>
              <a:rPr sz="2200" dirty="0"/>
              <a:t> </a:t>
            </a:r>
            <a:r>
              <a:rPr sz="2200" dirty="0" err="1"/>
              <a:t>систему</a:t>
            </a:r>
            <a:r>
              <a:rPr sz="2200" dirty="0"/>
              <a:t> — </a:t>
            </a:r>
            <a:r>
              <a:rPr sz="2200" dirty="0" err="1"/>
              <a:t>источник</a:t>
            </a:r>
            <a:r>
              <a:rPr sz="2200" dirty="0"/>
              <a:t> </a:t>
            </a:r>
            <a:r>
              <a:rPr sz="2200" dirty="0" err="1"/>
              <a:t>истины</a:t>
            </a:r>
            <a:r>
              <a:rPr sz="2200" dirty="0"/>
              <a:t>, </a:t>
            </a:r>
            <a:r>
              <a:rPr sz="2200" dirty="0" err="1"/>
              <a:t>правила</a:t>
            </a:r>
            <a:r>
              <a:rPr sz="2200" dirty="0"/>
              <a:t> </a:t>
            </a:r>
            <a:r>
              <a:rPr sz="2200" dirty="0" err="1"/>
              <a:t>преобразования</a:t>
            </a:r>
            <a:r>
              <a:rPr sz="2200" dirty="0"/>
              <a:t> </a:t>
            </a:r>
            <a:r>
              <a:rPr sz="2200" dirty="0" err="1"/>
              <a:t>полей</a:t>
            </a:r>
            <a:r>
              <a:rPr sz="2200" dirty="0"/>
              <a:t> и </a:t>
            </a:r>
            <a:r>
              <a:rPr sz="2200" dirty="0" err="1"/>
              <a:t>допустимую</a:t>
            </a:r>
            <a:r>
              <a:rPr sz="2200" dirty="0"/>
              <a:t> </a:t>
            </a:r>
            <a:r>
              <a:rPr sz="2200" dirty="0" err="1"/>
              <a:t>задержку</a:t>
            </a:r>
            <a:r>
              <a:rPr sz="2200" dirty="0"/>
              <a:t> </a:t>
            </a:r>
            <a:r>
              <a:rPr sz="2200" dirty="0" err="1"/>
              <a:t>обновления</a:t>
            </a:r>
            <a:r>
              <a:rPr sz="22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ru-RU" sz="2200" dirty="0" smtClean="0"/>
              <a:t> </a:t>
            </a:r>
            <a:r>
              <a:rPr sz="2200" dirty="0" err="1" smtClean="0"/>
              <a:t>Согласованность</a:t>
            </a:r>
            <a:r>
              <a:rPr sz="2200" dirty="0" smtClean="0"/>
              <a:t> </a:t>
            </a:r>
            <a:r>
              <a:rPr sz="2200" dirty="0" err="1"/>
              <a:t>данных</a:t>
            </a:r>
            <a:r>
              <a:rPr sz="2200" dirty="0"/>
              <a:t> </a:t>
            </a:r>
            <a:r>
              <a:rPr sz="2200" dirty="0" err="1"/>
              <a:t>поддерживается</a:t>
            </a:r>
            <a:r>
              <a:rPr sz="2200" dirty="0"/>
              <a:t> с </a:t>
            </a:r>
            <a:r>
              <a:rPr sz="2200" dirty="0" err="1"/>
              <a:t>помощью</a:t>
            </a:r>
            <a:r>
              <a:rPr sz="2200" dirty="0"/>
              <a:t> </a:t>
            </a:r>
            <a:r>
              <a:rPr sz="2200" dirty="0" err="1"/>
              <a:t>транзакций</a:t>
            </a:r>
            <a:r>
              <a:rPr sz="2200" dirty="0"/>
              <a:t>, </a:t>
            </a:r>
            <a:r>
              <a:rPr sz="2200" dirty="0" err="1"/>
              <a:t>репликации</a:t>
            </a:r>
            <a:r>
              <a:rPr sz="2200" dirty="0"/>
              <a:t> и </a:t>
            </a:r>
            <a:r>
              <a:rPr sz="2200" dirty="0" err="1"/>
              <a:t>захвата</a:t>
            </a:r>
            <a:r>
              <a:rPr sz="2200" dirty="0"/>
              <a:t> </a:t>
            </a:r>
            <a:r>
              <a:rPr sz="2200" dirty="0" err="1"/>
              <a:t>изменений</a:t>
            </a:r>
            <a:r>
              <a:rPr sz="2200" dirty="0"/>
              <a:t> CDC.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ru-RU" sz="2200" dirty="0" smtClean="0"/>
              <a:t> </a:t>
            </a:r>
            <a:r>
              <a:rPr sz="2200" dirty="0" err="1" smtClean="0"/>
              <a:t>Конфликты</a:t>
            </a:r>
            <a:r>
              <a:rPr sz="2200" dirty="0" smtClean="0"/>
              <a:t> </a:t>
            </a:r>
            <a:r>
              <a:rPr sz="2200" dirty="0" err="1"/>
              <a:t>возникают</a:t>
            </a:r>
            <a:r>
              <a:rPr sz="2200" dirty="0"/>
              <a:t>, </a:t>
            </a:r>
            <a:r>
              <a:rPr sz="2200" dirty="0" err="1"/>
              <a:t>когда</a:t>
            </a:r>
            <a:r>
              <a:rPr sz="2200" dirty="0"/>
              <a:t> </a:t>
            </a:r>
            <a:r>
              <a:rPr sz="2200" dirty="0" err="1"/>
              <a:t>разные</a:t>
            </a:r>
            <a:r>
              <a:rPr sz="2200" dirty="0"/>
              <a:t> </a:t>
            </a:r>
            <a:r>
              <a:rPr sz="2200" dirty="0" err="1"/>
              <a:t>системы</a:t>
            </a:r>
            <a:r>
              <a:rPr sz="2200" dirty="0"/>
              <a:t> </a:t>
            </a:r>
            <a:r>
              <a:rPr sz="2200" dirty="0" err="1"/>
              <a:t>изменяют</a:t>
            </a:r>
            <a:r>
              <a:rPr sz="2200" dirty="0"/>
              <a:t> </a:t>
            </a:r>
            <a:r>
              <a:rPr sz="2200" dirty="0" err="1"/>
              <a:t>один</a:t>
            </a:r>
            <a:r>
              <a:rPr sz="2200" dirty="0"/>
              <a:t> </a:t>
            </a:r>
            <a:r>
              <a:rPr sz="2200" dirty="0" err="1"/>
              <a:t>объект</a:t>
            </a:r>
            <a:r>
              <a:rPr sz="2200" dirty="0"/>
              <a:t>. </a:t>
            </a:r>
            <a:r>
              <a:rPr sz="2200" dirty="0" err="1"/>
              <a:t>Их</a:t>
            </a:r>
            <a:r>
              <a:rPr sz="2200" dirty="0"/>
              <a:t> </a:t>
            </a:r>
            <a:r>
              <a:rPr sz="2200" dirty="0" err="1"/>
              <a:t>разрешение</a:t>
            </a:r>
            <a:r>
              <a:rPr sz="2200" dirty="0"/>
              <a:t> </a:t>
            </a:r>
            <a:r>
              <a:rPr sz="2200" dirty="0" err="1"/>
              <a:t>требует</a:t>
            </a:r>
            <a:r>
              <a:rPr sz="2200" dirty="0"/>
              <a:t> </a:t>
            </a:r>
            <a:r>
              <a:rPr sz="2200" dirty="0" err="1"/>
              <a:t>заранее</a:t>
            </a:r>
            <a:r>
              <a:rPr sz="2200" dirty="0"/>
              <a:t> </a:t>
            </a:r>
            <a:r>
              <a:rPr sz="2200" dirty="0" err="1"/>
              <a:t>определённых</a:t>
            </a:r>
            <a:r>
              <a:rPr sz="2200" dirty="0"/>
              <a:t> </a:t>
            </a:r>
            <a:r>
              <a:rPr sz="2200" dirty="0" err="1"/>
              <a:t>правил</a:t>
            </a:r>
            <a:r>
              <a:rPr sz="22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ru-RU" sz="2200" dirty="0" smtClean="0"/>
              <a:t> </a:t>
            </a:r>
            <a:r>
              <a:rPr sz="2200" dirty="0" err="1" smtClean="0"/>
              <a:t>Идемпотентность</a:t>
            </a:r>
            <a:r>
              <a:rPr sz="2200" dirty="0" smtClean="0"/>
              <a:t> </a:t>
            </a:r>
            <a:r>
              <a:rPr sz="2200" dirty="0" err="1"/>
              <a:t>не</a:t>
            </a:r>
            <a:r>
              <a:rPr sz="2200" dirty="0"/>
              <a:t> </a:t>
            </a:r>
            <a:r>
              <a:rPr sz="2200" dirty="0" err="1"/>
              <a:t>позволяет</a:t>
            </a:r>
            <a:r>
              <a:rPr sz="2200" dirty="0"/>
              <a:t> </a:t>
            </a:r>
            <a:r>
              <a:rPr sz="2200" dirty="0" err="1"/>
              <a:t>повторной</a:t>
            </a:r>
            <a:r>
              <a:rPr sz="2200" dirty="0"/>
              <a:t> </a:t>
            </a:r>
            <a:r>
              <a:rPr sz="2200" dirty="0" err="1"/>
              <a:t>обработке</a:t>
            </a:r>
            <a:r>
              <a:rPr sz="2200" dirty="0"/>
              <a:t> </a:t>
            </a:r>
            <a:r>
              <a:rPr sz="2200" dirty="0" err="1"/>
              <a:t>одного</a:t>
            </a:r>
            <a:r>
              <a:rPr sz="2200" dirty="0"/>
              <a:t> </a:t>
            </a:r>
            <a:r>
              <a:rPr sz="2200" dirty="0" err="1"/>
              <a:t>сообщения</a:t>
            </a:r>
            <a:r>
              <a:rPr sz="2200" dirty="0"/>
              <a:t> </a:t>
            </a:r>
            <a:r>
              <a:rPr sz="2200" dirty="0" err="1"/>
              <a:t>создать</a:t>
            </a:r>
            <a:r>
              <a:rPr sz="2200" dirty="0"/>
              <a:t> </a:t>
            </a:r>
            <a:r>
              <a:rPr sz="2200" dirty="0" err="1"/>
              <a:t>ошибочный</a:t>
            </a:r>
            <a:r>
              <a:rPr sz="2200" dirty="0"/>
              <a:t> </a:t>
            </a:r>
            <a:r>
              <a:rPr sz="2200" dirty="0" err="1"/>
              <a:t>дубль</a:t>
            </a:r>
            <a:r>
              <a:rPr sz="2200" dirty="0"/>
              <a:t>.</a:t>
            </a:r>
            <a:endParaRPr dirty="0"/>
          </a:p>
        </p:txBody>
      </p:sp>
      <p:sp>
        <p:nvSpPr>
          <p:cNvPr id="129" name="Google Shape;129;p7">
            <a:extLst>
              <a:ext uri="{FF2B5EF4-FFF2-40B4-BE49-F238E27FC236}">
                <a16:creationId xmlns:a16="http://schemas.microsoft.com/office/drawing/2014/main" id="{64883205-A6C5-42BB-AD46-327D730A6AA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129157" y="5440362"/>
            <a:ext cx="1787979" cy="128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7</a:t>
            </a:fld>
            <a:endParaRPr/>
          </a:p>
        </p:txBody>
      </p:sp>
      <p:sp>
        <p:nvSpPr>
          <p:cNvPr id="130" name="Google Shape;130;p7">
            <a:extLst>
              <a:ext uri="{FF2B5EF4-FFF2-40B4-BE49-F238E27FC236}">
                <a16:creationId xmlns:a16="http://schemas.microsoft.com/office/drawing/2014/main" id="{AF2332E8-026C-473A-88BD-0D159F130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624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dirty="0" err="1"/>
              <a:t>Данные</a:t>
            </a:r>
            <a:r>
              <a:rPr dirty="0"/>
              <a:t> и </a:t>
            </a:r>
            <a:r>
              <a:rPr dirty="0" err="1"/>
              <a:t>синхронизация</a:t>
            </a:r>
            <a:r>
              <a:rPr dirty="0"/>
              <a:t> </a:t>
            </a:r>
            <a:r>
              <a:rPr dirty="0" err="1"/>
              <a:t>систем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0718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36;p8">
            <a:extLst>
              <a:ext uri="{FF2B5EF4-FFF2-40B4-BE49-F238E27FC236}">
                <a16:creationId xmlns:a16="http://schemas.microsoft.com/office/drawing/2014/main" id="{3E3798F3-B744-4D41-89BB-277FF0DA73A7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ln w="9525" cap="flat">
            <a:solidFill>
              <a:srgbClr val="FBFFFF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37" name="Google Shape;137;p8">
            <a:extLst>
              <a:ext uri="{FF2B5EF4-FFF2-40B4-BE49-F238E27FC236}">
                <a16:creationId xmlns:a16="http://schemas.microsoft.com/office/drawing/2014/main" id="{778193D1-1196-4496-994C-2B562FE2E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483569"/>
            <a:ext cx="10281557" cy="3601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sz="2200" dirty="0" err="1"/>
              <a:t>Интеграция</a:t>
            </a:r>
            <a:r>
              <a:rPr sz="2200" dirty="0"/>
              <a:t> </a:t>
            </a:r>
            <a:r>
              <a:rPr sz="2200" dirty="0" err="1"/>
              <a:t>должна</a:t>
            </a:r>
            <a:r>
              <a:rPr sz="2200" dirty="0"/>
              <a:t> </a:t>
            </a:r>
            <a:r>
              <a:rPr sz="2200" dirty="0" err="1"/>
              <a:t>сохранять</a:t>
            </a:r>
            <a:r>
              <a:rPr sz="2200" dirty="0"/>
              <a:t> </a:t>
            </a:r>
            <a:r>
              <a:rPr sz="2200" dirty="0" err="1"/>
              <a:t>работоспособность</a:t>
            </a:r>
            <a:r>
              <a:rPr sz="2200" dirty="0"/>
              <a:t> </a:t>
            </a:r>
            <a:r>
              <a:rPr sz="2200" dirty="0" err="1"/>
              <a:t>при</a:t>
            </a:r>
            <a:r>
              <a:rPr sz="2200" dirty="0"/>
              <a:t> </a:t>
            </a:r>
            <a:r>
              <a:rPr sz="2200" dirty="0" err="1"/>
              <a:t>недоступности</a:t>
            </a:r>
            <a:r>
              <a:rPr sz="2200" dirty="0"/>
              <a:t> </a:t>
            </a:r>
            <a:r>
              <a:rPr sz="2200" dirty="0" err="1"/>
              <a:t>сервисов</a:t>
            </a:r>
            <a:r>
              <a:rPr sz="2200" dirty="0"/>
              <a:t>, </a:t>
            </a:r>
            <a:r>
              <a:rPr sz="2200" dirty="0" err="1"/>
              <a:t>ошибках</a:t>
            </a:r>
            <a:r>
              <a:rPr sz="2200" dirty="0"/>
              <a:t> </a:t>
            </a:r>
            <a:r>
              <a:rPr sz="2200" dirty="0" err="1"/>
              <a:t>сети</a:t>
            </a:r>
            <a:r>
              <a:rPr sz="2200" dirty="0"/>
              <a:t>, </a:t>
            </a:r>
            <a:r>
              <a:rPr sz="2200" dirty="0" err="1"/>
              <a:t>сбоях</a:t>
            </a:r>
            <a:r>
              <a:rPr sz="2200" dirty="0"/>
              <a:t> </a:t>
            </a:r>
            <a:r>
              <a:rPr sz="2200" dirty="0" err="1"/>
              <a:t>базы</a:t>
            </a:r>
            <a:r>
              <a:rPr sz="2200" dirty="0"/>
              <a:t> </a:t>
            </a:r>
            <a:r>
              <a:rPr sz="2200" dirty="0" err="1"/>
              <a:t>данных</a:t>
            </a:r>
            <a:r>
              <a:rPr sz="2200" dirty="0"/>
              <a:t> и </a:t>
            </a:r>
            <a:r>
              <a:rPr sz="2200" dirty="0" err="1"/>
              <a:t>проблемах</a:t>
            </a:r>
            <a:r>
              <a:rPr sz="2200" dirty="0"/>
              <a:t> </a:t>
            </a:r>
            <a:r>
              <a:rPr sz="2200" dirty="0" err="1"/>
              <a:t>внешних</a:t>
            </a:r>
            <a:r>
              <a:rPr sz="2200" dirty="0"/>
              <a:t> </a:t>
            </a:r>
            <a:r>
              <a:rPr sz="2200" dirty="0" err="1"/>
              <a:t>систем</a:t>
            </a:r>
            <a:r>
              <a:rPr sz="22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sz="2200" dirty="0" err="1"/>
              <a:t>Для</a:t>
            </a:r>
            <a:r>
              <a:rPr sz="2200" dirty="0"/>
              <a:t> </a:t>
            </a:r>
            <a:r>
              <a:rPr sz="2200" dirty="0" err="1"/>
              <a:t>этого</a:t>
            </a:r>
            <a:r>
              <a:rPr sz="2200" dirty="0"/>
              <a:t> </a:t>
            </a:r>
            <a:r>
              <a:rPr sz="2200" dirty="0" err="1"/>
              <a:t>используются</a:t>
            </a:r>
            <a:r>
              <a:rPr sz="2200" dirty="0"/>
              <a:t> </a:t>
            </a:r>
            <a:r>
              <a:rPr sz="2200" dirty="0" err="1"/>
              <a:t>ограничение</a:t>
            </a:r>
            <a:r>
              <a:rPr sz="2200" dirty="0"/>
              <a:t> </a:t>
            </a:r>
            <a:r>
              <a:rPr sz="2200" dirty="0" err="1"/>
              <a:t>времени</a:t>
            </a:r>
            <a:r>
              <a:rPr sz="2200" dirty="0"/>
              <a:t> </a:t>
            </a:r>
            <a:r>
              <a:rPr sz="2200" dirty="0" err="1"/>
              <a:t>ожидания</a:t>
            </a:r>
            <a:r>
              <a:rPr sz="2200" dirty="0"/>
              <a:t>, </a:t>
            </a:r>
            <a:r>
              <a:rPr sz="2200" dirty="0" err="1"/>
              <a:t>повторные</a:t>
            </a:r>
            <a:r>
              <a:rPr sz="2200" dirty="0"/>
              <a:t> </a:t>
            </a:r>
            <a:r>
              <a:rPr sz="2200" dirty="0" err="1"/>
              <a:t>попытки</a:t>
            </a:r>
            <a:r>
              <a:rPr sz="2200" dirty="0"/>
              <a:t>, </a:t>
            </a:r>
            <a:r>
              <a:rPr sz="2200" dirty="0" err="1"/>
              <a:t>гарантии</a:t>
            </a:r>
            <a:r>
              <a:rPr sz="2200" dirty="0"/>
              <a:t> </a:t>
            </a:r>
            <a:r>
              <a:rPr sz="2200" dirty="0" err="1"/>
              <a:t>доставки</a:t>
            </a:r>
            <a:r>
              <a:rPr sz="2200" dirty="0"/>
              <a:t>, </a:t>
            </a:r>
            <a:r>
              <a:rPr sz="2200" dirty="0" err="1"/>
              <a:t>очереди</a:t>
            </a:r>
            <a:r>
              <a:rPr sz="2200" dirty="0"/>
              <a:t> и </a:t>
            </a:r>
            <a:r>
              <a:rPr sz="2200" dirty="0" err="1"/>
              <a:t>буферизация</a:t>
            </a:r>
            <a:r>
              <a:rPr sz="22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sz="2200" dirty="0" err="1"/>
              <a:t>Сообщения</a:t>
            </a:r>
            <a:r>
              <a:rPr sz="2200" dirty="0"/>
              <a:t> </a:t>
            </a:r>
            <a:r>
              <a:rPr sz="2200" dirty="0" err="1"/>
              <a:t>не</a:t>
            </a:r>
            <a:r>
              <a:rPr sz="2200" dirty="0"/>
              <a:t> </a:t>
            </a:r>
            <a:r>
              <a:rPr sz="2200" dirty="0" err="1"/>
              <a:t>должны</a:t>
            </a:r>
            <a:r>
              <a:rPr sz="2200" dirty="0"/>
              <a:t> </a:t>
            </a:r>
            <a:r>
              <a:rPr sz="2200" dirty="0" err="1"/>
              <a:t>теряться</a:t>
            </a:r>
            <a:r>
              <a:rPr sz="2200" dirty="0"/>
              <a:t> </a:t>
            </a:r>
            <a:r>
              <a:rPr sz="2200" dirty="0" err="1"/>
              <a:t>при</a:t>
            </a:r>
            <a:r>
              <a:rPr sz="2200" dirty="0"/>
              <a:t> </a:t>
            </a:r>
            <a:r>
              <a:rPr sz="2200" dirty="0" err="1"/>
              <a:t>временной</a:t>
            </a:r>
            <a:r>
              <a:rPr sz="2200" dirty="0"/>
              <a:t> </a:t>
            </a:r>
            <a:r>
              <a:rPr sz="2200" dirty="0" err="1"/>
              <a:t>недоступности</a:t>
            </a:r>
            <a:r>
              <a:rPr sz="2200" dirty="0"/>
              <a:t> </a:t>
            </a:r>
            <a:r>
              <a:rPr sz="2200" dirty="0" err="1"/>
              <a:t>получателя</a:t>
            </a:r>
            <a:r>
              <a:rPr sz="2200" dirty="0"/>
              <a:t>. </a:t>
            </a:r>
            <a:r>
              <a:rPr sz="2200" dirty="0" err="1"/>
              <a:t>Повторная</a:t>
            </a:r>
            <a:r>
              <a:rPr sz="2200" dirty="0"/>
              <a:t> </a:t>
            </a:r>
            <a:r>
              <a:rPr sz="2200" dirty="0" err="1"/>
              <a:t>доставка</a:t>
            </a:r>
            <a:r>
              <a:rPr sz="2200" dirty="0"/>
              <a:t> </a:t>
            </a:r>
            <a:r>
              <a:rPr sz="2200" dirty="0" err="1"/>
              <a:t>должна</a:t>
            </a:r>
            <a:r>
              <a:rPr sz="2200" dirty="0"/>
              <a:t> </a:t>
            </a:r>
            <a:r>
              <a:rPr sz="2200" dirty="0" err="1"/>
              <a:t>быть</a:t>
            </a:r>
            <a:r>
              <a:rPr sz="2200" dirty="0"/>
              <a:t> </a:t>
            </a:r>
            <a:r>
              <a:rPr sz="2200" dirty="0" err="1"/>
              <a:t>безопасной</a:t>
            </a:r>
            <a:r>
              <a:rPr sz="2200" dirty="0"/>
              <a:t> </a:t>
            </a:r>
            <a:r>
              <a:rPr sz="2200" dirty="0" err="1"/>
              <a:t>для</a:t>
            </a:r>
            <a:r>
              <a:rPr sz="2200" dirty="0"/>
              <a:t> </a:t>
            </a:r>
            <a:r>
              <a:rPr sz="2200" dirty="0" err="1"/>
              <a:t>бизнес-операции</a:t>
            </a:r>
            <a:r>
              <a:rPr sz="22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sz="2200" dirty="0" err="1"/>
              <a:t>Резервирование</a:t>
            </a:r>
            <a:r>
              <a:rPr sz="2200" dirty="0"/>
              <a:t> и </a:t>
            </a:r>
            <a:r>
              <a:rPr sz="2200" dirty="0" err="1"/>
              <a:t>распределение</a:t>
            </a:r>
            <a:r>
              <a:rPr sz="2200" dirty="0"/>
              <a:t> </a:t>
            </a:r>
            <a:r>
              <a:rPr sz="2200" dirty="0" err="1"/>
              <a:t>нагрузки</a:t>
            </a:r>
            <a:r>
              <a:rPr sz="2200" dirty="0"/>
              <a:t> </a:t>
            </a:r>
            <a:r>
              <a:rPr sz="2200" dirty="0" err="1"/>
              <a:t>помогают</a:t>
            </a:r>
            <a:r>
              <a:rPr sz="2200" dirty="0"/>
              <a:t> </a:t>
            </a:r>
            <a:r>
              <a:rPr sz="2200" dirty="0" err="1"/>
              <a:t>продолжить</a:t>
            </a:r>
            <a:r>
              <a:rPr sz="2200" dirty="0"/>
              <a:t> </a:t>
            </a:r>
            <a:r>
              <a:rPr sz="2200" dirty="0" err="1"/>
              <a:t>работу</a:t>
            </a:r>
            <a:r>
              <a:rPr sz="2200" dirty="0"/>
              <a:t> </a:t>
            </a:r>
            <a:r>
              <a:rPr sz="2200" dirty="0" err="1"/>
              <a:t>при</a:t>
            </a:r>
            <a:r>
              <a:rPr sz="2200" dirty="0"/>
              <a:t> </a:t>
            </a:r>
            <a:r>
              <a:rPr sz="2200" dirty="0" err="1"/>
              <a:t>отказе</a:t>
            </a:r>
            <a:r>
              <a:rPr sz="2200" dirty="0"/>
              <a:t> </a:t>
            </a:r>
            <a:r>
              <a:rPr sz="2200" dirty="0" err="1"/>
              <a:t>отдельных</a:t>
            </a:r>
            <a:r>
              <a:rPr sz="2200" dirty="0"/>
              <a:t> </a:t>
            </a:r>
            <a:r>
              <a:rPr sz="2200" dirty="0" err="1"/>
              <a:t>компонентов</a:t>
            </a:r>
            <a:r>
              <a:rPr sz="2200" dirty="0"/>
              <a:t>.</a:t>
            </a:r>
            <a:endParaRPr dirty="0"/>
          </a:p>
        </p:txBody>
      </p:sp>
      <p:sp>
        <p:nvSpPr>
          <p:cNvPr id="138" name="Google Shape;138;p8">
            <a:extLst>
              <a:ext uri="{FF2B5EF4-FFF2-40B4-BE49-F238E27FC236}">
                <a16:creationId xmlns:a16="http://schemas.microsoft.com/office/drawing/2014/main" id="{383B0B2A-42D3-465F-A33F-22E9735ABB1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129157" y="5440362"/>
            <a:ext cx="1787979" cy="128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8</a:t>
            </a:fld>
            <a:endParaRPr/>
          </a:p>
        </p:txBody>
      </p:sp>
      <p:sp>
        <p:nvSpPr>
          <p:cNvPr id="139" name="Google Shape;139;p8">
            <a:extLst>
              <a:ext uri="{FF2B5EF4-FFF2-40B4-BE49-F238E27FC236}">
                <a16:creationId xmlns:a16="http://schemas.microsoft.com/office/drawing/2014/main" id="{38184F3B-9A05-4BF9-8C7F-458C2ADD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737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dirty="0" err="1"/>
              <a:t>Надёжность</a:t>
            </a:r>
            <a:r>
              <a:rPr dirty="0"/>
              <a:t> и </a:t>
            </a:r>
            <a:r>
              <a:rPr dirty="0" err="1"/>
              <a:t>отказоустойчивость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072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Google Shape;145;p9">
            <a:extLst>
              <a:ext uri="{FF2B5EF4-FFF2-40B4-BE49-F238E27FC236}">
                <a16:creationId xmlns:a16="http://schemas.microsoft.com/office/drawing/2014/main" id="{B4E52EF7-C63D-4BC6-9041-9FDC3986BF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ln w="9525" cap="flat">
            <a:solidFill>
              <a:srgbClr val="FBFFFF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6" name="Google Shape;146;p9">
            <a:extLst>
              <a:ext uri="{FF2B5EF4-FFF2-40B4-BE49-F238E27FC236}">
                <a16:creationId xmlns:a16="http://schemas.microsoft.com/office/drawing/2014/main" id="{813A1D56-B7DC-42B6-9E74-986A296C6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68965"/>
            <a:ext cx="10281557" cy="3601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sz="2200" dirty="0" err="1"/>
              <a:t>Аутентификация</a:t>
            </a:r>
            <a:r>
              <a:rPr sz="2200" dirty="0"/>
              <a:t> </a:t>
            </a:r>
            <a:r>
              <a:rPr sz="2200" dirty="0" err="1"/>
              <a:t>подтверждает</a:t>
            </a:r>
            <a:r>
              <a:rPr sz="2200" dirty="0"/>
              <a:t>, </a:t>
            </a:r>
            <a:r>
              <a:rPr sz="2200" dirty="0" err="1"/>
              <a:t>кто</a:t>
            </a:r>
            <a:r>
              <a:rPr sz="2200" dirty="0"/>
              <a:t> </a:t>
            </a:r>
            <a:r>
              <a:rPr sz="2200" dirty="0" err="1"/>
              <a:t>обращается</a:t>
            </a:r>
            <a:r>
              <a:rPr sz="2200" dirty="0"/>
              <a:t> к </a:t>
            </a:r>
            <a:r>
              <a:rPr sz="2200" dirty="0" err="1"/>
              <a:t>системе</a:t>
            </a:r>
            <a:r>
              <a:rPr sz="2200" dirty="0"/>
              <a:t>, а </a:t>
            </a:r>
            <a:r>
              <a:rPr sz="2200" dirty="0" err="1"/>
              <a:t>авторизация</a:t>
            </a:r>
            <a:r>
              <a:rPr sz="2200" dirty="0"/>
              <a:t> </a:t>
            </a:r>
            <a:r>
              <a:rPr sz="2200" dirty="0" err="1"/>
              <a:t>определяет</a:t>
            </a:r>
            <a:r>
              <a:rPr sz="2200" dirty="0"/>
              <a:t> </a:t>
            </a:r>
            <a:r>
              <a:rPr sz="2200" dirty="0" err="1"/>
              <a:t>разрешённые</a:t>
            </a:r>
            <a:r>
              <a:rPr sz="2200" dirty="0"/>
              <a:t> </a:t>
            </a:r>
            <a:r>
              <a:rPr sz="2200" dirty="0" err="1"/>
              <a:t>действия</a:t>
            </a:r>
            <a:r>
              <a:rPr sz="22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sz="2200" dirty="0" err="1"/>
              <a:t>Передачу</a:t>
            </a:r>
            <a:r>
              <a:rPr sz="2200" dirty="0"/>
              <a:t> и </a:t>
            </a:r>
            <a:r>
              <a:rPr sz="2200" dirty="0" err="1"/>
              <a:t>хранение</a:t>
            </a:r>
            <a:r>
              <a:rPr sz="2200" dirty="0"/>
              <a:t> </a:t>
            </a:r>
            <a:r>
              <a:rPr sz="2200" dirty="0" err="1"/>
              <a:t>информации</a:t>
            </a:r>
            <a:r>
              <a:rPr sz="2200" dirty="0"/>
              <a:t> </a:t>
            </a:r>
            <a:r>
              <a:rPr sz="2200" dirty="0" err="1"/>
              <a:t>защищают</a:t>
            </a:r>
            <a:r>
              <a:rPr sz="2200" dirty="0"/>
              <a:t> </a:t>
            </a:r>
            <a:r>
              <a:rPr sz="2200" dirty="0" err="1"/>
              <a:t>шифрованием</a:t>
            </a:r>
            <a:r>
              <a:rPr sz="2200" dirty="0"/>
              <a:t>. </a:t>
            </a:r>
            <a:r>
              <a:rPr sz="2200" dirty="0" err="1"/>
              <a:t>Для</a:t>
            </a:r>
            <a:r>
              <a:rPr sz="2200" dirty="0"/>
              <a:t> API </a:t>
            </a:r>
            <a:r>
              <a:rPr sz="2200" dirty="0" err="1"/>
              <a:t>применяются</a:t>
            </a:r>
            <a:r>
              <a:rPr sz="2200" dirty="0"/>
              <a:t> </a:t>
            </a:r>
            <a:r>
              <a:rPr sz="2200" dirty="0" err="1"/>
              <a:t>ключи</a:t>
            </a:r>
            <a:r>
              <a:rPr sz="2200" dirty="0"/>
              <a:t>, </a:t>
            </a:r>
            <a:r>
              <a:rPr sz="2200" dirty="0" err="1"/>
              <a:t>токены</a:t>
            </a:r>
            <a:r>
              <a:rPr sz="2200" dirty="0"/>
              <a:t> и OAuth.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sz="2200" dirty="0" err="1"/>
              <a:t>Отдельно</a:t>
            </a:r>
            <a:r>
              <a:rPr sz="2200" dirty="0"/>
              <a:t> </a:t>
            </a:r>
            <a:r>
              <a:rPr sz="2200" dirty="0" err="1"/>
              <a:t>учитываются</a:t>
            </a:r>
            <a:r>
              <a:rPr sz="2200" dirty="0"/>
              <a:t> </a:t>
            </a:r>
            <a:r>
              <a:rPr sz="2200" dirty="0" err="1"/>
              <a:t>требования</a:t>
            </a:r>
            <a:r>
              <a:rPr sz="2200" dirty="0"/>
              <a:t> к </a:t>
            </a:r>
            <a:r>
              <a:rPr sz="2200" dirty="0" err="1"/>
              <a:t>персональным</a:t>
            </a:r>
            <a:r>
              <a:rPr sz="2200" dirty="0"/>
              <a:t> </a:t>
            </a:r>
            <a:r>
              <a:rPr sz="2200" dirty="0" err="1"/>
              <a:t>данным</a:t>
            </a:r>
            <a:r>
              <a:rPr sz="2200" dirty="0"/>
              <a:t> и </a:t>
            </a:r>
            <a:r>
              <a:rPr sz="2200" dirty="0" err="1"/>
              <a:t>минимальным</a:t>
            </a:r>
            <a:r>
              <a:rPr sz="2200" dirty="0"/>
              <a:t> </a:t>
            </a:r>
            <a:r>
              <a:rPr sz="2200" dirty="0" err="1"/>
              <a:t>правам</a:t>
            </a:r>
            <a:r>
              <a:rPr sz="2200" dirty="0"/>
              <a:t> </a:t>
            </a:r>
            <a:r>
              <a:rPr sz="2200" dirty="0" err="1"/>
              <a:t>доступа</a:t>
            </a:r>
            <a:r>
              <a:rPr sz="22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sz="2200" dirty="0" err="1"/>
              <a:t>Журналирование</a:t>
            </a:r>
            <a:r>
              <a:rPr sz="2200" dirty="0"/>
              <a:t> </a:t>
            </a:r>
            <a:r>
              <a:rPr sz="2200" dirty="0" err="1"/>
              <a:t>помогает</a:t>
            </a:r>
            <a:r>
              <a:rPr sz="2200" dirty="0"/>
              <a:t> </a:t>
            </a:r>
            <a:r>
              <a:rPr sz="2200" dirty="0" err="1"/>
              <a:t>контролировать</a:t>
            </a:r>
            <a:r>
              <a:rPr sz="2200" dirty="0"/>
              <a:t> </a:t>
            </a:r>
            <a:r>
              <a:rPr sz="2200" dirty="0" err="1"/>
              <a:t>обращения</a:t>
            </a:r>
            <a:r>
              <a:rPr sz="2200" dirty="0"/>
              <a:t> и </a:t>
            </a:r>
            <a:r>
              <a:rPr sz="2200" dirty="0" err="1"/>
              <a:t>расследовать</a:t>
            </a:r>
            <a:r>
              <a:rPr sz="2200" dirty="0"/>
              <a:t> </a:t>
            </a:r>
            <a:r>
              <a:rPr sz="2200" dirty="0" err="1"/>
              <a:t>инциденты</a:t>
            </a:r>
            <a:r>
              <a:rPr sz="2200" dirty="0"/>
              <a:t>. </a:t>
            </a:r>
            <a:r>
              <a:rPr sz="2200" dirty="0" err="1"/>
              <a:t>Среди</a:t>
            </a:r>
            <a:r>
              <a:rPr sz="2200" dirty="0"/>
              <a:t> </a:t>
            </a:r>
            <a:r>
              <a:rPr sz="2200" dirty="0" err="1"/>
              <a:t>типовых</a:t>
            </a:r>
            <a:r>
              <a:rPr sz="2200" dirty="0"/>
              <a:t> </a:t>
            </a:r>
            <a:r>
              <a:rPr sz="2200" dirty="0" err="1"/>
              <a:t>угроз</a:t>
            </a:r>
            <a:r>
              <a:rPr sz="2200" dirty="0"/>
              <a:t> — </a:t>
            </a:r>
            <a:r>
              <a:rPr sz="2200" dirty="0" err="1"/>
              <a:t>перехват</a:t>
            </a:r>
            <a:r>
              <a:rPr sz="2200" dirty="0"/>
              <a:t> </a:t>
            </a:r>
            <a:r>
              <a:rPr sz="2200" dirty="0" err="1"/>
              <a:t>данных</a:t>
            </a:r>
            <a:r>
              <a:rPr sz="2200" dirty="0"/>
              <a:t>, </a:t>
            </a:r>
            <a:r>
              <a:rPr sz="2200" dirty="0" err="1"/>
              <a:t>подмена</a:t>
            </a:r>
            <a:r>
              <a:rPr sz="2200" dirty="0"/>
              <a:t> </a:t>
            </a:r>
            <a:r>
              <a:rPr sz="2200" dirty="0" err="1"/>
              <a:t>запросов</a:t>
            </a:r>
            <a:r>
              <a:rPr sz="2200" dirty="0"/>
              <a:t>, </a:t>
            </a:r>
            <a:r>
              <a:rPr sz="2200" dirty="0" err="1"/>
              <a:t>несанкционированный</a:t>
            </a:r>
            <a:r>
              <a:rPr sz="2200" dirty="0"/>
              <a:t> </a:t>
            </a:r>
            <a:r>
              <a:rPr sz="2200" dirty="0" err="1"/>
              <a:t>доступ</a:t>
            </a:r>
            <a:r>
              <a:rPr sz="2200" dirty="0"/>
              <a:t> и </a:t>
            </a:r>
            <a:r>
              <a:rPr sz="2200" dirty="0" err="1"/>
              <a:t>утечки</a:t>
            </a:r>
            <a:r>
              <a:rPr sz="2200" dirty="0"/>
              <a:t>.</a:t>
            </a:r>
            <a:endParaRPr dirty="0"/>
          </a:p>
        </p:txBody>
      </p:sp>
      <p:sp>
        <p:nvSpPr>
          <p:cNvPr id="147" name="Google Shape;147;p9">
            <a:extLst>
              <a:ext uri="{FF2B5EF4-FFF2-40B4-BE49-F238E27FC236}">
                <a16:creationId xmlns:a16="http://schemas.microsoft.com/office/drawing/2014/main" id="{973435AD-C88C-4B58-B45A-AFD39651DA0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129157" y="5440362"/>
            <a:ext cx="1787979" cy="128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9</a:t>
            </a:fld>
            <a:endParaRPr/>
          </a:p>
        </p:txBody>
      </p:sp>
      <p:sp>
        <p:nvSpPr>
          <p:cNvPr id="148" name="Google Shape;148;p9">
            <a:extLst>
              <a:ext uri="{FF2B5EF4-FFF2-40B4-BE49-F238E27FC236}">
                <a16:creationId xmlns:a16="http://schemas.microsoft.com/office/drawing/2014/main" id="{DA448306-052E-4846-AD6D-4F5BE7B60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737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dirty="0" err="1"/>
              <a:t>Безопасность</a:t>
            </a:r>
            <a:r>
              <a:rPr dirty="0"/>
              <a:t> </a:t>
            </a:r>
            <a:r>
              <a:rPr dirty="0" err="1"/>
              <a:t>интеграции</a:t>
            </a:r>
            <a:r>
              <a:rPr dirty="0"/>
              <a:t> и </a:t>
            </a:r>
            <a:r>
              <a:rPr dirty="0" err="1"/>
              <a:t>защита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0064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" name="Google Shape;154;p10">
            <a:extLst>
              <a:ext uri="{FF2B5EF4-FFF2-40B4-BE49-F238E27FC236}">
                <a16:creationId xmlns:a16="http://schemas.microsoft.com/office/drawing/2014/main" id="{31CFEA92-0215-49FC-AA06-372B62BC3947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ln w="9525" cap="flat">
            <a:solidFill>
              <a:srgbClr val="FBFFFF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55" name="Google Shape;155;p10">
            <a:extLst>
              <a:ext uri="{FF2B5EF4-FFF2-40B4-BE49-F238E27FC236}">
                <a16:creationId xmlns:a16="http://schemas.microsoft.com/office/drawing/2014/main" id="{E0B6749F-674C-46F3-BEE9-16AF91409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74238"/>
            <a:ext cx="10281557" cy="3601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sz="2000" dirty="0" err="1"/>
              <a:t>Высокая</a:t>
            </a:r>
            <a:r>
              <a:rPr sz="2000" dirty="0"/>
              <a:t> </a:t>
            </a:r>
            <a:r>
              <a:rPr sz="2000" dirty="0" err="1"/>
              <a:t>нагрузка</a:t>
            </a:r>
            <a:r>
              <a:rPr sz="2000" dirty="0"/>
              <a:t> </a:t>
            </a:r>
            <a:r>
              <a:rPr sz="2000" dirty="0" err="1"/>
              <a:t>определяется</a:t>
            </a:r>
            <a:r>
              <a:rPr sz="2000" dirty="0"/>
              <a:t> </a:t>
            </a:r>
            <a:r>
              <a:rPr sz="2000" dirty="0" err="1"/>
              <a:t>количеством</a:t>
            </a:r>
            <a:r>
              <a:rPr sz="2000" dirty="0"/>
              <a:t> </a:t>
            </a:r>
            <a:r>
              <a:rPr sz="2000" dirty="0" err="1"/>
              <a:t>запросов</a:t>
            </a:r>
            <a:r>
              <a:rPr sz="2000" dirty="0"/>
              <a:t>, </a:t>
            </a:r>
            <a:r>
              <a:rPr sz="2000" dirty="0" err="1"/>
              <a:t>пользователей</a:t>
            </a:r>
            <a:r>
              <a:rPr sz="2000" dirty="0"/>
              <a:t> и </a:t>
            </a:r>
            <a:r>
              <a:rPr sz="2000" dirty="0" err="1"/>
              <a:t>объёмом</a:t>
            </a:r>
            <a:r>
              <a:rPr sz="2000" dirty="0"/>
              <a:t> </a:t>
            </a:r>
            <a:r>
              <a:rPr sz="2000" dirty="0" err="1"/>
              <a:t>передаваемых</a:t>
            </a:r>
            <a:r>
              <a:rPr sz="2000" dirty="0"/>
              <a:t> </a:t>
            </a:r>
            <a:r>
              <a:rPr sz="2000" dirty="0" err="1"/>
              <a:t>данных</a:t>
            </a:r>
            <a:r>
              <a:rPr sz="20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sz="2000" dirty="0" err="1"/>
              <a:t>Производительность</a:t>
            </a:r>
            <a:r>
              <a:rPr sz="2000" dirty="0"/>
              <a:t> </a:t>
            </a:r>
            <a:r>
              <a:rPr sz="2000" dirty="0" err="1"/>
              <a:t>оценивают</a:t>
            </a:r>
            <a:r>
              <a:rPr sz="2000" dirty="0"/>
              <a:t> </a:t>
            </a:r>
            <a:r>
              <a:rPr sz="2000" dirty="0" err="1"/>
              <a:t>по</a:t>
            </a:r>
            <a:r>
              <a:rPr sz="2000" dirty="0"/>
              <a:t> RPS, </a:t>
            </a:r>
            <a:r>
              <a:rPr sz="2000" dirty="0" err="1"/>
              <a:t>времени</a:t>
            </a:r>
            <a:r>
              <a:rPr sz="2000" dirty="0"/>
              <a:t> </a:t>
            </a:r>
            <a:r>
              <a:rPr sz="2000" dirty="0" err="1"/>
              <a:t>ответа</a:t>
            </a:r>
            <a:r>
              <a:rPr sz="2000" dirty="0"/>
              <a:t>, </a:t>
            </a:r>
            <a:r>
              <a:rPr sz="2000" dirty="0" err="1"/>
              <a:t>загрузке</a:t>
            </a:r>
            <a:r>
              <a:rPr sz="2000" dirty="0"/>
              <a:t> CPU и RAM, </a:t>
            </a:r>
            <a:r>
              <a:rPr sz="2000" dirty="0" err="1"/>
              <a:t>сетевому</a:t>
            </a:r>
            <a:r>
              <a:rPr sz="2000" dirty="0"/>
              <a:t> </a:t>
            </a:r>
            <a:r>
              <a:rPr sz="2000" dirty="0" err="1"/>
              <a:t>трафику</a:t>
            </a:r>
            <a:r>
              <a:rPr sz="2000" dirty="0"/>
              <a:t> и </a:t>
            </a:r>
            <a:r>
              <a:rPr sz="2000" dirty="0" err="1"/>
              <a:t>нагрузке</a:t>
            </a:r>
            <a:r>
              <a:rPr sz="2000" dirty="0"/>
              <a:t> </a:t>
            </a:r>
            <a:r>
              <a:rPr sz="2000" dirty="0" err="1"/>
              <a:t>на</a:t>
            </a:r>
            <a:r>
              <a:rPr sz="2000" dirty="0"/>
              <a:t> </a:t>
            </a:r>
            <a:r>
              <a:rPr sz="2000" dirty="0" err="1"/>
              <a:t>базы</a:t>
            </a:r>
            <a:r>
              <a:rPr sz="2000" dirty="0"/>
              <a:t> </a:t>
            </a:r>
            <a:r>
              <a:rPr sz="2000" dirty="0" err="1"/>
              <a:t>данных</a:t>
            </a:r>
            <a:r>
              <a:rPr sz="20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sz="2000" dirty="0" err="1"/>
              <a:t>Для</a:t>
            </a:r>
            <a:r>
              <a:rPr sz="2000" dirty="0"/>
              <a:t> </a:t>
            </a:r>
            <a:r>
              <a:rPr sz="2000" dirty="0" err="1"/>
              <a:t>роста</a:t>
            </a:r>
            <a:r>
              <a:rPr sz="2000" dirty="0"/>
              <a:t> </a:t>
            </a:r>
            <a:r>
              <a:rPr sz="2000" dirty="0" err="1"/>
              <a:t>производительности</a:t>
            </a:r>
            <a:r>
              <a:rPr sz="2000" dirty="0"/>
              <a:t> </a:t>
            </a:r>
            <a:r>
              <a:rPr sz="2000" dirty="0" err="1"/>
              <a:t>применяются</a:t>
            </a:r>
            <a:r>
              <a:rPr sz="2000" dirty="0"/>
              <a:t> </a:t>
            </a:r>
            <a:r>
              <a:rPr sz="2000" dirty="0" err="1"/>
              <a:t>вертикальное</a:t>
            </a:r>
            <a:r>
              <a:rPr sz="2000" dirty="0"/>
              <a:t> и </a:t>
            </a:r>
            <a:r>
              <a:rPr sz="2000" dirty="0" err="1"/>
              <a:t>горизонтальное</a:t>
            </a:r>
            <a:r>
              <a:rPr sz="2000" dirty="0"/>
              <a:t> </a:t>
            </a:r>
            <a:r>
              <a:rPr sz="2000" dirty="0" err="1"/>
              <a:t>масштабирование</a:t>
            </a:r>
            <a:r>
              <a:rPr sz="2000" dirty="0"/>
              <a:t>, </a:t>
            </a:r>
            <a:r>
              <a:rPr sz="2000" dirty="0" err="1"/>
              <a:t>балансировка</a:t>
            </a:r>
            <a:r>
              <a:rPr sz="2000" dirty="0"/>
              <a:t> </a:t>
            </a:r>
            <a:r>
              <a:rPr sz="2000" dirty="0" err="1"/>
              <a:t>запросов</a:t>
            </a:r>
            <a:r>
              <a:rPr sz="2000" dirty="0"/>
              <a:t> и </a:t>
            </a:r>
            <a:r>
              <a:rPr sz="2000" dirty="0" err="1"/>
              <a:t>кэширование</a:t>
            </a:r>
            <a:r>
              <a:rPr sz="20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sz="2000" dirty="0" err="1"/>
              <a:t>Очереди</a:t>
            </a:r>
            <a:r>
              <a:rPr sz="2000" dirty="0"/>
              <a:t>, </a:t>
            </a:r>
            <a:r>
              <a:rPr sz="2000" dirty="0" err="1"/>
              <a:t>брокеры</a:t>
            </a:r>
            <a:r>
              <a:rPr sz="2000" dirty="0"/>
              <a:t> и </a:t>
            </a:r>
            <a:r>
              <a:rPr sz="2000" dirty="0" err="1"/>
              <a:t>распределённая</a:t>
            </a:r>
            <a:r>
              <a:rPr sz="2000" dirty="0"/>
              <a:t> </a:t>
            </a:r>
            <a:r>
              <a:rPr sz="2000" dirty="0" err="1"/>
              <a:t>обработка</a:t>
            </a:r>
            <a:r>
              <a:rPr sz="2000" dirty="0"/>
              <a:t> </a:t>
            </a:r>
            <a:r>
              <a:rPr sz="2000" dirty="0" err="1"/>
              <a:t>позволяют</a:t>
            </a:r>
            <a:r>
              <a:rPr sz="2000" dirty="0"/>
              <a:t> </a:t>
            </a:r>
            <a:r>
              <a:rPr sz="2000" dirty="0" err="1"/>
              <a:t>разделить</a:t>
            </a:r>
            <a:r>
              <a:rPr sz="2000" dirty="0"/>
              <a:t> </a:t>
            </a:r>
            <a:r>
              <a:rPr sz="2000" dirty="0" err="1"/>
              <a:t>работу</a:t>
            </a:r>
            <a:r>
              <a:rPr sz="2000" dirty="0"/>
              <a:t> </a:t>
            </a:r>
            <a:r>
              <a:rPr sz="2000" dirty="0" err="1"/>
              <a:t>между</a:t>
            </a:r>
            <a:r>
              <a:rPr sz="2000" dirty="0"/>
              <a:t> </a:t>
            </a:r>
            <a:r>
              <a:rPr sz="2000" dirty="0" err="1"/>
              <a:t>несколькими</a:t>
            </a:r>
            <a:r>
              <a:rPr sz="2000" dirty="0"/>
              <a:t> </a:t>
            </a:r>
            <a:r>
              <a:rPr sz="2000" dirty="0" err="1"/>
              <a:t>узлами</a:t>
            </a:r>
            <a:r>
              <a:rPr sz="2000" dirty="0"/>
              <a:t>.</a:t>
            </a:r>
            <a:endParaRPr dirty="0"/>
          </a:p>
        </p:txBody>
      </p:sp>
      <p:sp>
        <p:nvSpPr>
          <p:cNvPr id="156" name="Google Shape;156;p10">
            <a:extLst>
              <a:ext uri="{FF2B5EF4-FFF2-40B4-BE49-F238E27FC236}">
                <a16:creationId xmlns:a16="http://schemas.microsoft.com/office/drawing/2014/main" id="{06F12FC5-8151-46B9-ACAD-D9A0135D0D1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129157" y="5440362"/>
            <a:ext cx="1787979" cy="128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10</a:t>
            </a:fld>
            <a:endParaRPr/>
          </a:p>
        </p:txBody>
      </p:sp>
      <p:sp>
        <p:nvSpPr>
          <p:cNvPr id="157" name="Google Shape;157;p10">
            <a:extLst>
              <a:ext uri="{FF2B5EF4-FFF2-40B4-BE49-F238E27FC236}">
                <a16:creationId xmlns:a16="http://schemas.microsoft.com/office/drawing/2014/main" id="{0B640561-2692-42C1-9293-F40A0389F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737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>Производительность и высокая нагрузка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6231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" name="Google Shape;163;p11">
            <a:extLst>
              <a:ext uri="{FF2B5EF4-FFF2-40B4-BE49-F238E27FC236}">
                <a16:creationId xmlns:a16="http://schemas.microsoft.com/office/drawing/2014/main" id="{D4FB7F7E-7A0E-4C32-AB58-C12B6E72A5B6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ln w="9525" cap="flat">
            <a:solidFill>
              <a:srgbClr val="FBFFFF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64" name="Google Shape;164;p11">
            <a:extLst>
              <a:ext uri="{FF2B5EF4-FFF2-40B4-BE49-F238E27FC236}">
                <a16:creationId xmlns:a16="http://schemas.microsoft.com/office/drawing/2014/main" id="{292BA24F-610C-4B25-80D6-38D005B6A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96990"/>
            <a:ext cx="10281557" cy="3601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sz="2000" dirty="0" err="1"/>
              <a:t>Проверять</a:t>
            </a:r>
            <a:r>
              <a:rPr sz="2000" dirty="0"/>
              <a:t> </a:t>
            </a:r>
            <a:r>
              <a:rPr sz="2000" dirty="0" err="1"/>
              <a:t>корректность</a:t>
            </a:r>
            <a:r>
              <a:rPr sz="2000" dirty="0"/>
              <a:t> </a:t>
            </a:r>
            <a:r>
              <a:rPr sz="2000" dirty="0" err="1"/>
              <a:t>взаимодействия</a:t>
            </a:r>
            <a:r>
              <a:rPr sz="2000" dirty="0"/>
              <a:t> </a:t>
            </a:r>
            <a:r>
              <a:rPr sz="2000" dirty="0" err="1"/>
              <a:t>систем</a:t>
            </a:r>
            <a:r>
              <a:rPr sz="20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sz="2000" dirty="0" err="1"/>
              <a:t>Проверять</a:t>
            </a:r>
            <a:r>
              <a:rPr sz="2000" dirty="0"/>
              <a:t> </a:t>
            </a:r>
            <a:r>
              <a:rPr sz="2000" dirty="0" err="1"/>
              <a:t>формат</a:t>
            </a:r>
            <a:r>
              <a:rPr sz="2000" dirty="0"/>
              <a:t> </a:t>
            </a:r>
            <a:r>
              <a:rPr sz="2000" dirty="0" err="1"/>
              <a:t>сообщений</a:t>
            </a:r>
            <a:r>
              <a:rPr sz="2000" dirty="0"/>
              <a:t> и </a:t>
            </a:r>
            <a:r>
              <a:rPr sz="2000" dirty="0" err="1"/>
              <a:t>производительность</a:t>
            </a:r>
            <a:r>
              <a:rPr sz="20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sz="2000" dirty="0" err="1"/>
              <a:t>Находить</a:t>
            </a:r>
            <a:r>
              <a:rPr sz="2000" dirty="0"/>
              <a:t> </a:t>
            </a:r>
            <a:r>
              <a:rPr sz="2000" dirty="0" err="1"/>
              <a:t>ошибки</a:t>
            </a:r>
            <a:r>
              <a:rPr sz="2000" dirty="0"/>
              <a:t> с </a:t>
            </a:r>
            <a:r>
              <a:rPr sz="2000" dirty="0" err="1"/>
              <a:t>помощью</a:t>
            </a:r>
            <a:r>
              <a:rPr sz="2000" dirty="0"/>
              <a:t> </a:t>
            </a:r>
            <a:r>
              <a:rPr sz="2000" dirty="0" err="1"/>
              <a:t>мониторинга</a:t>
            </a:r>
            <a:r>
              <a:rPr sz="2000" dirty="0"/>
              <a:t>, </a:t>
            </a:r>
            <a:r>
              <a:rPr sz="2000" dirty="0" err="1"/>
              <a:t>логирования</a:t>
            </a:r>
            <a:r>
              <a:rPr sz="2000" dirty="0"/>
              <a:t> и </a:t>
            </a:r>
            <a:r>
              <a:rPr sz="2000" dirty="0" err="1"/>
              <a:t>трассировки</a:t>
            </a:r>
            <a:r>
              <a:rPr sz="20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sz="2000" dirty="0" err="1"/>
              <a:t>Готовить</a:t>
            </a:r>
            <a:r>
              <a:rPr sz="2000" dirty="0"/>
              <a:t> </a:t>
            </a:r>
            <a:r>
              <a:rPr sz="2000" dirty="0" err="1"/>
              <a:t>окружения</a:t>
            </a:r>
            <a:r>
              <a:rPr sz="2000" dirty="0"/>
              <a:t>, </a:t>
            </a:r>
            <a:r>
              <a:rPr sz="2000" dirty="0" err="1"/>
              <a:t>доступы</a:t>
            </a:r>
            <a:r>
              <a:rPr sz="2000" dirty="0"/>
              <a:t> и </a:t>
            </a:r>
            <a:r>
              <a:rPr sz="2000" dirty="0" err="1"/>
              <a:t>план</a:t>
            </a:r>
            <a:r>
              <a:rPr sz="2000" dirty="0"/>
              <a:t> </a:t>
            </a:r>
            <a:r>
              <a:rPr sz="2000" dirty="0" err="1"/>
              <a:t>отката</a:t>
            </a:r>
            <a:r>
              <a:rPr sz="2000" dirty="0"/>
              <a:t>.</a:t>
            </a: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endParaRPr dirty="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sz="2000" dirty="0" err="1"/>
              <a:t>После</a:t>
            </a:r>
            <a:r>
              <a:rPr sz="2000" dirty="0"/>
              <a:t> </a:t>
            </a:r>
            <a:r>
              <a:rPr sz="2000" dirty="0" err="1"/>
              <a:t>курса</a:t>
            </a:r>
            <a:r>
              <a:rPr sz="2000" dirty="0"/>
              <a:t> </a:t>
            </a:r>
            <a:r>
              <a:rPr sz="2000" dirty="0" err="1"/>
              <a:t>студент</a:t>
            </a:r>
            <a:r>
              <a:rPr sz="2000" dirty="0"/>
              <a:t> </a:t>
            </a:r>
            <a:r>
              <a:rPr sz="2000" dirty="0" err="1"/>
              <a:t>умеет</a:t>
            </a:r>
            <a:r>
              <a:rPr sz="2000" dirty="0"/>
              <a:t> </a:t>
            </a:r>
            <a:r>
              <a:rPr sz="2000" dirty="0" err="1"/>
              <a:t>обосновать</a:t>
            </a:r>
            <a:r>
              <a:rPr sz="2000" dirty="0"/>
              <a:t> </a:t>
            </a:r>
            <a:r>
              <a:rPr sz="2000" dirty="0" err="1"/>
              <a:t>архитектуру</a:t>
            </a:r>
            <a:r>
              <a:rPr sz="2000" dirty="0"/>
              <a:t> и </a:t>
            </a:r>
            <a:r>
              <a:rPr sz="2000" dirty="0" err="1"/>
              <a:t>подготовить</a:t>
            </a:r>
            <a:r>
              <a:rPr sz="2000" dirty="0"/>
              <a:t> </a:t>
            </a:r>
            <a:r>
              <a:rPr sz="2000" dirty="0" err="1"/>
              <a:t>обмен</a:t>
            </a:r>
            <a:r>
              <a:rPr sz="2000" dirty="0"/>
              <a:t> к </a:t>
            </a:r>
            <a:r>
              <a:rPr sz="2000" dirty="0" err="1"/>
              <a:t>эксплуатации</a:t>
            </a:r>
            <a:r>
              <a:rPr sz="2000" dirty="0"/>
              <a:t>.</a:t>
            </a:r>
            <a:endParaRPr dirty="0"/>
          </a:p>
        </p:txBody>
      </p:sp>
      <p:sp>
        <p:nvSpPr>
          <p:cNvPr id="165" name="Google Shape;165;p11">
            <a:extLst>
              <a:ext uri="{FF2B5EF4-FFF2-40B4-BE49-F238E27FC236}">
                <a16:creationId xmlns:a16="http://schemas.microsoft.com/office/drawing/2014/main" id="{38AD6EBF-5705-4C8A-A8E2-96A1260751A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129157" y="5440362"/>
            <a:ext cx="1787979" cy="128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11</a:t>
            </a:fld>
            <a:endParaRPr/>
          </a:p>
        </p:txBody>
      </p:sp>
      <p:sp>
        <p:nvSpPr>
          <p:cNvPr id="166" name="Google Shape;166;p11">
            <a:extLst>
              <a:ext uri="{FF2B5EF4-FFF2-40B4-BE49-F238E27FC236}">
                <a16:creationId xmlns:a16="http://schemas.microsoft.com/office/drawing/2014/main" id="{9BD40781-B280-40C3-8819-552384B2A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737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>Тестирование, мониторинг и эксплуатация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64397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12">
            <a:extLst>
              <a:ext uri="{FF2B5EF4-FFF2-40B4-BE49-F238E27FC236}">
                <a16:creationId xmlns:a16="http://schemas.microsoft.com/office/drawing/2014/main" id="{60CCA411-3297-492D-8CF2-A1C1FE7D843B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ln w="9525" cap="flat">
            <a:solidFill>
              <a:srgbClr val="FBFFFF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73" name="Google Shape;173;p12">
            <a:extLst>
              <a:ext uri="{FF2B5EF4-FFF2-40B4-BE49-F238E27FC236}">
                <a16:creationId xmlns:a16="http://schemas.microsoft.com/office/drawing/2014/main" id="{9DBEA102-ACF1-432B-8026-739E96F0D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>Спасибо за внимание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718063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rgbClr val="000000"/>
      </a:dk1>
      <a:lt1>
        <a:srgbClr val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Московский Политех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2">
  <a:themeElements>
    <a:clrScheme name="Московский Политех">
      <a:dk1>
        <a:srgbClr val="000000"/>
      </a:dk1>
      <a:lt1>
        <a:srgbClr val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Московский Политех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884</Words>
  <Application>Microsoft Office PowerPoint</Application>
  <DocSecurity>0</DocSecurity>
  <PresentationFormat>Широкоэкранный</PresentationFormat>
  <Paragraphs>101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Verdana</vt:lpstr>
      <vt:lpstr>Verdana </vt:lpstr>
      <vt:lpstr>Тема2</vt:lpstr>
      <vt:lpstr>Проектирование интеграционных решений</vt:lpstr>
      <vt:lpstr>Цель курса</vt:lpstr>
      <vt:lpstr>План курса</vt:lpstr>
      <vt:lpstr>Основы интеграции информационных систем</vt:lpstr>
      <vt:lpstr>Архитектуры и способы взаимодействия</vt:lpstr>
      <vt:lpstr>Интерфейсы, форматы и протоколы обмена</vt:lpstr>
      <vt:lpstr>Данные и синхронизация систем</vt:lpstr>
      <vt:lpstr>Надёжность и отказоустойчивость</vt:lpstr>
      <vt:lpstr>Безопасность интеграции и защита данных</vt:lpstr>
      <vt:lpstr>Производительность и высокая нагрузка</vt:lpstr>
      <vt:lpstr>Тестирование, мониторинг и эксплуатация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Анастасия</cp:lastModifiedBy>
  <cp:revision>3</cp:revision>
  <dcterms:created xsi:type="dcterms:W3CDTF">2026-10-21T08:25:16Z</dcterms:created>
  <dcterms:modified xsi:type="dcterms:W3CDTF">2026-10-21T08:28:50Z</dcterms:modified>
</cp:coreProperties>
</file>